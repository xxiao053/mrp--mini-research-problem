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115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47834CE-F3D2-4053-830F-2E6788C8CA8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DDC2374-0A55-4F58-AC26-D409D38FF151}">
      <dgm:prSet/>
      <dgm:spPr/>
      <dgm:t>
        <a:bodyPr/>
        <a:lstStyle/>
        <a:p>
          <a:r>
            <a:rPr lang="en-US" b="1"/>
            <a:t>What is Object Hallucination?</a:t>
          </a:r>
          <a:endParaRPr lang="en-US"/>
        </a:p>
      </dgm:t>
    </dgm:pt>
    <dgm:pt modelId="{1CA485E1-21D6-490A-946C-01975583C64F}" type="parTrans" cxnId="{4652563E-EFE4-4B59-B9FF-830A8625827F}">
      <dgm:prSet/>
      <dgm:spPr/>
      <dgm:t>
        <a:bodyPr/>
        <a:lstStyle/>
        <a:p>
          <a:endParaRPr lang="en-US"/>
        </a:p>
      </dgm:t>
    </dgm:pt>
    <dgm:pt modelId="{BBB71293-3DB1-4552-8C5F-591B576F2374}" type="sibTrans" cxnId="{4652563E-EFE4-4B59-B9FF-830A8625827F}">
      <dgm:prSet/>
      <dgm:spPr/>
      <dgm:t>
        <a:bodyPr/>
        <a:lstStyle/>
        <a:p>
          <a:endParaRPr lang="en-US"/>
        </a:p>
      </dgm:t>
    </dgm:pt>
    <dgm:pt modelId="{706AD34A-C273-44C3-B49C-310CA415AC33}">
      <dgm:prSet/>
      <dgm:spPr/>
      <dgm:t>
        <a:bodyPr/>
        <a:lstStyle/>
        <a:p>
          <a:r>
            <a:rPr lang="en-US"/>
            <a:t>A model claims the presence of an object that is </a:t>
          </a:r>
          <a:r>
            <a:rPr lang="en-US" b="1"/>
            <a:t>not present</a:t>
          </a:r>
          <a:r>
            <a:rPr lang="en-US"/>
            <a:t> in the image.</a:t>
          </a:r>
        </a:p>
      </dgm:t>
    </dgm:pt>
    <dgm:pt modelId="{C40E9789-81BE-405C-A326-BDDD10381964}" type="parTrans" cxnId="{1906EEB9-3800-47CE-B8BB-BE61246C4995}">
      <dgm:prSet/>
      <dgm:spPr/>
      <dgm:t>
        <a:bodyPr/>
        <a:lstStyle/>
        <a:p>
          <a:endParaRPr lang="en-US"/>
        </a:p>
      </dgm:t>
    </dgm:pt>
    <dgm:pt modelId="{9396DAE1-38DC-4169-8140-91921359B3E6}" type="sibTrans" cxnId="{1906EEB9-3800-47CE-B8BB-BE61246C4995}">
      <dgm:prSet/>
      <dgm:spPr/>
      <dgm:t>
        <a:bodyPr/>
        <a:lstStyle/>
        <a:p>
          <a:endParaRPr lang="en-US"/>
        </a:p>
      </dgm:t>
    </dgm:pt>
    <dgm:pt modelId="{F4A76FD7-6F5B-4EA2-8E45-4E55AF1ACA1D}">
      <dgm:prSet/>
      <dgm:spPr/>
      <dgm:t>
        <a:bodyPr/>
        <a:lstStyle/>
        <a:p>
          <a:r>
            <a:rPr lang="en-US" b="1"/>
            <a:t>Motivation</a:t>
          </a:r>
          <a:endParaRPr lang="en-US"/>
        </a:p>
      </dgm:t>
    </dgm:pt>
    <dgm:pt modelId="{0317CC4A-7952-4BE6-A856-9BFB213E5BF0}" type="parTrans" cxnId="{744AEF46-F4C4-4B4F-9DA8-9B925E51B28A}">
      <dgm:prSet/>
      <dgm:spPr/>
      <dgm:t>
        <a:bodyPr/>
        <a:lstStyle/>
        <a:p>
          <a:endParaRPr lang="en-US"/>
        </a:p>
      </dgm:t>
    </dgm:pt>
    <dgm:pt modelId="{7B929FEE-B903-4377-AB70-6922D524A139}" type="sibTrans" cxnId="{744AEF46-F4C4-4B4F-9DA8-9B925E51B28A}">
      <dgm:prSet/>
      <dgm:spPr/>
      <dgm:t>
        <a:bodyPr/>
        <a:lstStyle/>
        <a:p>
          <a:endParaRPr lang="en-US"/>
        </a:p>
      </dgm:t>
    </dgm:pt>
    <dgm:pt modelId="{134354DD-1B65-4631-AC3D-B098DA206EE4}">
      <dgm:prSet/>
      <dgm:spPr/>
      <dgm:t>
        <a:bodyPr/>
        <a:lstStyle/>
        <a:p>
          <a:r>
            <a:rPr lang="en-US"/>
            <a:t>Most prior hallucination studies require </a:t>
          </a:r>
          <a:r>
            <a:rPr lang="en-US" i="1"/>
            <a:t>caption generation + human judgment</a:t>
          </a:r>
          <a:r>
            <a:rPr lang="en-US"/>
            <a:t>.    → Slow, subjective, expensive.</a:t>
          </a:r>
        </a:p>
      </dgm:t>
    </dgm:pt>
    <dgm:pt modelId="{DFB6818E-DFDA-4A4C-991C-36CAE883D38E}" type="parTrans" cxnId="{BCDCC92B-3F00-416A-8F7A-29D765712C9A}">
      <dgm:prSet/>
      <dgm:spPr/>
      <dgm:t>
        <a:bodyPr/>
        <a:lstStyle/>
        <a:p>
          <a:endParaRPr lang="en-US"/>
        </a:p>
      </dgm:t>
    </dgm:pt>
    <dgm:pt modelId="{DE467F24-C3AC-42E3-875A-9B4409C8ED0D}" type="sibTrans" cxnId="{BCDCC92B-3F00-416A-8F7A-29D765712C9A}">
      <dgm:prSet/>
      <dgm:spPr/>
      <dgm:t>
        <a:bodyPr/>
        <a:lstStyle/>
        <a:p>
          <a:endParaRPr lang="en-US"/>
        </a:p>
      </dgm:t>
    </dgm:pt>
    <dgm:pt modelId="{730A2532-B086-4E59-9DE2-E2C8D90CB58D}">
      <dgm:prSet/>
      <dgm:spPr/>
      <dgm:t>
        <a:bodyPr/>
        <a:lstStyle/>
        <a:p>
          <a:r>
            <a:rPr lang="en-US"/>
            <a:t>Propose a </a:t>
          </a:r>
          <a:r>
            <a:rPr lang="en-US" b="1"/>
            <a:t>fully automated yes/no probing framework</a:t>
          </a:r>
          <a:r>
            <a:rPr lang="en-US"/>
            <a:t> that:</a:t>
          </a:r>
        </a:p>
      </dgm:t>
    </dgm:pt>
    <dgm:pt modelId="{2DDD1B15-E3B6-4811-8C14-8C89397B07CB}" type="parTrans" cxnId="{C6A6E144-6E0F-4F9D-AA77-730A64A56C5A}">
      <dgm:prSet/>
      <dgm:spPr/>
      <dgm:t>
        <a:bodyPr/>
        <a:lstStyle/>
        <a:p>
          <a:endParaRPr lang="en-US"/>
        </a:p>
      </dgm:t>
    </dgm:pt>
    <dgm:pt modelId="{ACBFC3D4-CD40-481F-8B1F-602D6DC0DD25}" type="sibTrans" cxnId="{C6A6E144-6E0F-4F9D-AA77-730A64A56C5A}">
      <dgm:prSet/>
      <dgm:spPr/>
      <dgm:t>
        <a:bodyPr/>
        <a:lstStyle/>
        <a:p>
          <a:endParaRPr lang="en-US"/>
        </a:p>
      </dgm:t>
    </dgm:pt>
    <dgm:pt modelId="{77FE1BC5-F1EA-4C97-928A-F566E52508F2}">
      <dgm:prSet/>
      <dgm:spPr/>
      <dgm:t>
        <a:bodyPr/>
        <a:lstStyle/>
        <a:p>
          <a:r>
            <a:rPr lang="en-US"/>
            <a:t>scales to any number of images, prompts, or models</a:t>
          </a:r>
        </a:p>
      </dgm:t>
    </dgm:pt>
    <dgm:pt modelId="{FFBE6DC9-8AE3-4DC9-B39C-EA25409D4BDB}" type="parTrans" cxnId="{361A1261-D719-4FAA-8CAF-AA32650FB955}">
      <dgm:prSet/>
      <dgm:spPr/>
      <dgm:t>
        <a:bodyPr/>
        <a:lstStyle/>
        <a:p>
          <a:endParaRPr lang="en-US"/>
        </a:p>
      </dgm:t>
    </dgm:pt>
    <dgm:pt modelId="{7709F3DC-AE62-47B2-AA72-51A344FA9B21}" type="sibTrans" cxnId="{361A1261-D719-4FAA-8CAF-AA32650FB955}">
      <dgm:prSet/>
      <dgm:spPr/>
      <dgm:t>
        <a:bodyPr/>
        <a:lstStyle/>
        <a:p>
          <a:endParaRPr lang="en-US"/>
        </a:p>
      </dgm:t>
    </dgm:pt>
    <dgm:pt modelId="{E376C437-BBD1-4126-B901-059A9B9255A7}">
      <dgm:prSet/>
      <dgm:spPr/>
      <dgm:t>
        <a:bodyPr/>
        <a:lstStyle/>
        <a:p>
          <a:r>
            <a:rPr lang="fr-FR"/>
            <a:t>gives stable, quantitative hallucination metrics</a:t>
          </a:r>
          <a:endParaRPr lang="en-US"/>
        </a:p>
      </dgm:t>
    </dgm:pt>
    <dgm:pt modelId="{10734DAF-2E3B-41F8-87EF-1631E6DD9F54}" type="parTrans" cxnId="{095F9787-3C85-4F42-AD75-E06665375909}">
      <dgm:prSet/>
      <dgm:spPr/>
      <dgm:t>
        <a:bodyPr/>
        <a:lstStyle/>
        <a:p>
          <a:endParaRPr lang="en-US"/>
        </a:p>
      </dgm:t>
    </dgm:pt>
    <dgm:pt modelId="{E94E81FC-2275-4DF1-972F-35CF923D1CAC}" type="sibTrans" cxnId="{095F9787-3C85-4F42-AD75-E06665375909}">
      <dgm:prSet/>
      <dgm:spPr/>
      <dgm:t>
        <a:bodyPr/>
        <a:lstStyle/>
        <a:p>
          <a:endParaRPr lang="en-US"/>
        </a:p>
      </dgm:t>
    </dgm:pt>
    <dgm:pt modelId="{71D5348A-4166-4370-8407-25E22D36F117}">
      <dgm:prSet/>
      <dgm:spPr/>
      <dgm:t>
        <a:bodyPr/>
        <a:lstStyle/>
        <a:p>
          <a:r>
            <a:rPr lang="en-US"/>
            <a:t>requires zero human labeling during evaluation</a:t>
          </a:r>
        </a:p>
      </dgm:t>
    </dgm:pt>
    <dgm:pt modelId="{163B572D-33D2-47D8-A19D-680BF248B320}" type="parTrans" cxnId="{FCB0E4F2-70AE-4800-811F-E5C3020289F6}">
      <dgm:prSet/>
      <dgm:spPr/>
      <dgm:t>
        <a:bodyPr/>
        <a:lstStyle/>
        <a:p>
          <a:endParaRPr lang="en-US"/>
        </a:p>
      </dgm:t>
    </dgm:pt>
    <dgm:pt modelId="{B4311670-F6A2-4162-B81F-89B8BC525254}" type="sibTrans" cxnId="{FCB0E4F2-70AE-4800-811F-E5C3020289F6}">
      <dgm:prSet/>
      <dgm:spPr/>
      <dgm:t>
        <a:bodyPr/>
        <a:lstStyle/>
        <a:p>
          <a:endParaRPr lang="en-US"/>
        </a:p>
      </dgm:t>
    </dgm:pt>
    <dgm:pt modelId="{6C334951-0FAB-4519-A69C-AAADB8C86142}">
      <dgm:prSet/>
      <dgm:spPr/>
      <dgm:t>
        <a:bodyPr/>
        <a:lstStyle/>
        <a:p>
          <a:r>
            <a:rPr lang="en-US" b="1"/>
            <a:t>Main Idea</a:t>
          </a:r>
          <a:endParaRPr lang="en-US"/>
        </a:p>
      </dgm:t>
    </dgm:pt>
    <dgm:pt modelId="{AA398B31-E6DD-423E-9E34-60739069233C}" type="parTrans" cxnId="{248BED84-999B-4FF0-9B9D-C061BBDD6BCC}">
      <dgm:prSet/>
      <dgm:spPr/>
      <dgm:t>
        <a:bodyPr/>
        <a:lstStyle/>
        <a:p>
          <a:endParaRPr lang="en-US"/>
        </a:p>
      </dgm:t>
    </dgm:pt>
    <dgm:pt modelId="{34F34B17-7ADA-4D49-BDDD-9956E0E2D7BD}" type="sibTrans" cxnId="{248BED84-999B-4FF0-9B9D-C061BBDD6BCC}">
      <dgm:prSet/>
      <dgm:spPr/>
      <dgm:t>
        <a:bodyPr/>
        <a:lstStyle/>
        <a:p>
          <a:endParaRPr lang="en-US"/>
        </a:p>
      </dgm:t>
    </dgm:pt>
    <dgm:pt modelId="{FDFDB5CB-A4B0-49DA-91E8-58DE1D0AF958}">
      <dgm:prSet/>
      <dgm:spPr/>
      <dgm:t>
        <a:bodyPr/>
        <a:lstStyle/>
        <a:p>
          <a:r>
            <a:rPr lang="en-US"/>
            <a:t>Use POPE-style </a:t>
          </a:r>
          <a:r>
            <a:rPr lang="en-US" i="1"/>
            <a:t>object presence probing</a:t>
          </a:r>
          <a:endParaRPr lang="en-US"/>
        </a:p>
      </dgm:t>
    </dgm:pt>
    <dgm:pt modelId="{E90FEF86-0973-4D07-A68C-F6DFBF846231}" type="parTrans" cxnId="{279A890A-E01D-4A5E-A5C6-AD3009D1AA40}">
      <dgm:prSet/>
      <dgm:spPr/>
      <dgm:t>
        <a:bodyPr/>
        <a:lstStyle/>
        <a:p>
          <a:endParaRPr lang="en-US"/>
        </a:p>
      </dgm:t>
    </dgm:pt>
    <dgm:pt modelId="{90166DCE-3311-42C6-ACF5-972B5C186FAC}" type="sibTrans" cxnId="{279A890A-E01D-4A5E-A5C6-AD3009D1AA40}">
      <dgm:prSet/>
      <dgm:spPr/>
      <dgm:t>
        <a:bodyPr/>
        <a:lstStyle/>
        <a:p>
          <a:endParaRPr lang="en-US"/>
        </a:p>
      </dgm:t>
    </dgm:pt>
    <dgm:pt modelId="{17E1BEF3-B4C3-4DAB-AFB6-8A53FF5AA1C9}">
      <dgm:prSet/>
      <dgm:spPr/>
      <dgm:t>
        <a:bodyPr/>
        <a:lstStyle/>
        <a:p>
          <a:r>
            <a:rPr lang="en-US"/>
            <a:t>Apply baseline / misleading / mitigation prompts</a:t>
          </a:r>
        </a:p>
      </dgm:t>
    </dgm:pt>
    <dgm:pt modelId="{C9F9CB97-202B-4AB4-82CF-B94D8AD4C55B}" type="parTrans" cxnId="{5260556F-5D36-4980-B35D-DC59C729A837}">
      <dgm:prSet/>
      <dgm:spPr/>
      <dgm:t>
        <a:bodyPr/>
        <a:lstStyle/>
        <a:p>
          <a:endParaRPr lang="en-US"/>
        </a:p>
      </dgm:t>
    </dgm:pt>
    <dgm:pt modelId="{659E73C2-F8E7-4FC1-B396-B330C381CA7E}" type="sibTrans" cxnId="{5260556F-5D36-4980-B35D-DC59C729A837}">
      <dgm:prSet/>
      <dgm:spPr/>
      <dgm:t>
        <a:bodyPr/>
        <a:lstStyle/>
        <a:p>
          <a:endParaRPr lang="en-US"/>
        </a:p>
      </dgm:t>
    </dgm:pt>
    <dgm:pt modelId="{AA6C5DDA-E7ED-4D1C-8B5F-2CE93BEA77A2}">
      <dgm:prSet/>
      <dgm:spPr/>
      <dgm:t>
        <a:bodyPr/>
        <a:lstStyle/>
        <a:p>
          <a:r>
            <a:rPr lang="en-US"/>
            <a:t>Compute hallucination rate automatically</a:t>
          </a:r>
        </a:p>
      </dgm:t>
    </dgm:pt>
    <dgm:pt modelId="{9A68A661-CB19-4970-91FB-8DE387E791A8}" type="parTrans" cxnId="{EE24F5C0-DD86-4249-81E4-403CBE20FD12}">
      <dgm:prSet/>
      <dgm:spPr/>
      <dgm:t>
        <a:bodyPr/>
        <a:lstStyle/>
        <a:p>
          <a:endParaRPr lang="en-US"/>
        </a:p>
      </dgm:t>
    </dgm:pt>
    <dgm:pt modelId="{089760A9-F1A7-4CAE-9AEF-C619FFEEA8E0}" type="sibTrans" cxnId="{EE24F5C0-DD86-4249-81E4-403CBE20FD12}">
      <dgm:prSet/>
      <dgm:spPr/>
      <dgm:t>
        <a:bodyPr/>
        <a:lstStyle/>
        <a:p>
          <a:endParaRPr lang="en-US"/>
        </a:p>
      </dgm:t>
    </dgm:pt>
    <dgm:pt modelId="{A41B7BC8-72F2-4739-99B5-EAF27856C304}">
      <dgm:prSet/>
      <dgm:spPr/>
      <dgm:t>
        <a:bodyPr/>
        <a:lstStyle/>
        <a:p>
          <a:r>
            <a:rPr lang="en-US" b="1"/>
            <a:t>Key Result</a:t>
          </a:r>
          <a:endParaRPr lang="en-US"/>
        </a:p>
      </dgm:t>
    </dgm:pt>
    <dgm:pt modelId="{558F65D1-E2C3-4FE6-A6C2-9A78C2809A99}" type="parTrans" cxnId="{F830B6F4-32B1-44E5-921D-A19B75DA02B9}">
      <dgm:prSet/>
      <dgm:spPr/>
      <dgm:t>
        <a:bodyPr/>
        <a:lstStyle/>
        <a:p>
          <a:endParaRPr lang="en-US"/>
        </a:p>
      </dgm:t>
    </dgm:pt>
    <dgm:pt modelId="{E1DFEF69-26A3-44CD-828D-38442ED023A3}" type="sibTrans" cxnId="{F830B6F4-32B1-44E5-921D-A19B75DA02B9}">
      <dgm:prSet/>
      <dgm:spPr/>
      <dgm:t>
        <a:bodyPr/>
        <a:lstStyle/>
        <a:p>
          <a:endParaRPr lang="en-US"/>
        </a:p>
      </dgm:t>
    </dgm:pt>
    <dgm:pt modelId="{EF6BABB6-D951-4809-B521-C5B755BCDCCF}">
      <dgm:prSet/>
      <dgm:spPr/>
      <dgm:t>
        <a:bodyPr/>
        <a:lstStyle/>
        <a:p>
          <a:r>
            <a:rPr lang="en-US"/>
            <a:t>Misleading prompts ↑ hallucination</a:t>
          </a:r>
        </a:p>
      </dgm:t>
    </dgm:pt>
    <dgm:pt modelId="{ABD51B03-D268-468A-9047-4615199E8BAF}" type="parTrans" cxnId="{C5652AE1-F887-40CB-9017-C5D4631C2D3D}">
      <dgm:prSet/>
      <dgm:spPr/>
      <dgm:t>
        <a:bodyPr/>
        <a:lstStyle/>
        <a:p>
          <a:endParaRPr lang="en-US"/>
        </a:p>
      </dgm:t>
    </dgm:pt>
    <dgm:pt modelId="{105DEB34-6B2A-4F88-B82A-A62417F44BB3}" type="sibTrans" cxnId="{C5652AE1-F887-40CB-9017-C5D4631C2D3D}">
      <dgm:prSet/>
      <dgm:spPr/>
      <dgm:t>
        <a:bodyPr/>
        <a:lstStyle/>
        <a:p>
          <a:endParaRPr lang="en-US"/>
        </a:p>
      </dgm:t>
    </dgm:pt>
    <dgm:pt modelId="{238ED4DA-18F1-4BC3-A985-1E341ECA5A5A}">
      <dgm:prSet/>
      <dgm:spPr/>
      <dgm:t>
        <a:bodyPr/>
        <a:lstStyle/>
        <a:p>
          <a:r>
            <a:rPr lang="en-US"/>
            <a:t>Mitigation prompts ↓ hallucination</a:t>
          </a:r>
        </a:p>
      </dgm:t>
    </dgm:pt>
    <dgm:pt modelId="{205C9F8E-A641-41C3-9B97-EE40EDFE6114}" type="parTrans" cxnId="{804DBC93-1498-4D21-AF04-54F7E0089E98}">
      <dgm:prSet/>
      <dgm:spPr/>
      <dgm:t>
        <a:bodyPr/>
        <a:lstStyle/>
        <a:p>
          <a:endParaRPr lang="en-US"/>
        </a:p>
      </dgm:t>
    </dgm:pt>
    <dgm:pt modelId="{185F00E9-ED0A-4BFB-8368-4B4B624997FB}" type="sibTrans" cxnId="{804DBC93-1498-4D21-AF04-54F7E0089E98}">
      <dgm:prSet/>
      <dgm:spPr/>
      <dgm:t>
        <a:bodyPr/>
        <a:lstStyle/>
        <a:p>
          <a:endParaRPr lang="en-US"/>
        </a:p>
      </dgm:t>
    </dgm:pt>
    <dgm:pt modelId="{CEB99BDD-5F37-411F-B98B-B1EFA1F43CF8}">
      <dgm:prSet/>
      <dgm:spPr/>
      <dgm:t>
        <a:bodyPr/>
        <a:lstStyle/>
        <a:p>
          <a:r>
            <a:rPr lang="en-US"/>
            <a:t>GPT-5.1 &gt; GPT-4o in robustness</a:t>
          </a:r>
        </a:p>
      </dgm:t>
    </dgm:pt>
    <dgm:pt modelId="{D5BD57AA-A1A7-429C-8364-931553E7B098}" type="parTrans" cxnId="{54D3FD16-6696-4914-8190-139419C6671B}">
      <dgm:prSet/>
      <dgm:spPr/>
      <dgm:t>
        <a:bodyPr/>
        <a:lstStyle/>
        <a:p>
          <a:endParaRPr lang="en-US"/>
        </a:p>
      </dgm:t>
    </dgm:pt>
    <dgm:pt modelId="{6EA6D3F3-BE6B-4F5F-946D-FC8D99BC8C6F}" type="sibTrans" cxnId="{54D3FD16-6696-4914-8190-139419C6671B}">
      <dgm:prSet/>
      <dgm:spPr/>
      <dgm:t>
        <a:bodyPr/>
        <a:lstStyle/>
        <a:p>
          <a:endParaRPr lang="en-US"/>
        </a:p>
      </dgm:t>
    </dgm:pt>
    <dgm:pt modelId="{1144E3F5-4D21-4744-8AA7-A9CA4DF14D3F}">
      <dgm:prSet/>
      <dgm:spPr/>
      <dgm:t>
        <a:bodyPr/>
        <a:lstStyle/>
        <a:p>
          <a:r>
            <a:rPr lang="en-US"/>
            <a:t>Workflow is extensible for future research</a:t>
          </a:r>
        </a:p>
      </dgm:t>
    </dgm:pt>
    <dgm:pt modelId="{78BF581C-5E39-4692-AF3F-E39AF7D5FDA6}" type="parTrans" cxnId="{71E21679-7093-4652-90D6-5A34995E84A7}">
      <dgm:prSet/>
      <dgm:spPr/>
      <dgm:t>
        <a:bodyPr/>
        <a:lstStyle/>
        <a:p>
          <a:endParaRPr lang="en-US"/>
        </a:p>
      </dgm:t>
    </dgm:pt>
    <dgm:pt modelId="{562DA553-6886-4697-98FE-484C5183EA3D}" type="sibTrans" cxnId="{71E21679-7093-4652-90D6-5A34995E84A7}">
      <dgm:prSet/>
      <dgm:spPr/>
      <dgm:t>
        <a:bodyPr/>
        <a:lstStyle/>
        <a:p>
          <a:endParaRPr lang="en-US"/>
        </a:p>
      </dgm:t>
    </dgm:pt>
    <dgm:pt modelId="{4E22CD95-5D5E-4B55-AC1B-6F7AE37554FB}" type="pres">
      <dgm:prSet presAssocID="{C47834CE-F3D2-4053-830F-2E6788C8CA88}" presName="linear" presStyleCnt="0">
        <dgm:presLayoutVars>
          <dgm:animLvl val="lvl"/>
          <dgm:resizeHandles val="exact"/>
        </dgm:presLayoutVars>
      </dgm:prSet>
      <dgm:spPr/>
    </dgm:pt>
    <dgm:pt modelId="{16077254-1206-4D27-A335-A3E22082D9F7}" type="pres">
      <dgm:prSet presAssocID="{ADDC2374-0A55-4F58-AC26-D409D38FF15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CBA4D75-0646-4907-9D60-F0BD0BE5B007}" type="pres">
      <dgm:prSet presAssocID="{ADDC2374-0A55-4F58-AC26-D409D38FF151}" presName="childText" presStyleLbl="revTx" presStyleIdx="0" presStyleCnt="4">
        <dgm:presLayoutVars>
          <dgm:bulletEnabled val="1"/>
        </dgm:presLayoutVars>
      </dgm:prSet>
      <dgm:spPr/>
    </dgm:pt>
    <dgm:pt modelId="{710EE733-AF27-42EF-B573-AC4997BA74A5}" type="pres">
      <dgm:prSet presAssocID="{F4A76FD7-6F5B-4EA2-8E45-4E55AF1ACA1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D131EEF-A105-4137-8E59-E48BC65C585C}" type="pres">
      <dgm:prSet presAssocID="{F4A76FD7-6F5B-4EA2-8E45-4E55AF1ACA1D}" presName="childText" presStyleLbl="revTx" presStyleIdx="1" presStyleCnt="4">
        <dgm:presLayoutVars>
          <dgm:bulletEnabled val="1"/>
        </dgm:presLayoutVars>
      </dgm:prSet>
      <dgm:spPr/>
    </dgm:pt>
    <dgm:pt modelId="{B51D918B-764A-4120-A504-8534266481E6}" type="pres">
      <dgm:prSet presAssocID="{6C334951-0FAB-4519-A69C-AAADB8C8614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C9E006D-EA9C-45B5-B831-18FAD19FBF60}" type="pres">
      <dgm:prSet presAssocID="{6C334951-0FAB-4519-A69C-AAADB8C86142}" presName="childText" presStyleLbl="revTx" presStyleIdx="2" presStyleCnt="4">
        <dgm:presLayoutVars>
          <dgm:bulletEnabled val="1"/>
        </dgm:presLayoutVars>
      </dgm:prSet>
      <dgm:spPr/>
    </dgm:pt>
    <dgm:pt modelId="{C8A93F79-35D6-471B-AD29-87A29222328D}" type="pres">
      <dgm:prSet presAssocID="{A41B7BC8-72F2-4739-99B5-EAF27856C304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49C86983-8646-4F32-91B6-73CF9716910B}" type="pres">
      <dgm:prSet presAssocID="{A41B7BC8-72F2-4739-99B5-EAF27856C304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279A890A-E01D-4A5E-A5C6-AD3009D1AA40}" srcId="{6C334951-0FAB-4519-A69C-AAADB8C86142}" destId="{FDFDB5CB-A4B0-49DA-91E8-58DE1D0AF958}" srcOrd="0" destOrd="0" parTransId="{E90FEF86-0973-4D07-A68C-F6DFBF846231}" sibTransId="{90166DCE-3311-42C6-ACF5-972B5C186FAC}"/>
    <dgm:cxn modelId="{54D3FD16-6696-4914-8190-139419C6671B}" srcId="{A41B7BC8-72F2-4739-99B5-EAF27856C304}" destId="{CEB99BDD-5F37-411F-B98B-B1EFA1F43CF8}" srcOrd="2" destOrd="0" parTransId="{D5BD57AA-A1A7-429C-8364-931553E7B098}" sibTransId="{6EA6D3F3-BE6B-4F5F-946D-FC8D99BC8C6F}"/>
    <dgm:cxn modelId="{2B28DD1E-C614-427B-A969-D4A11DCF0DA0}" type="presOf" srcId="{730A2532-B086-4E59-9DE2-E2C8D90CB58D}" destId="{5D131EEF-A105-4137-8E59-E48BC65C585C}" srcOrd="0" destOrd="1" presId="urn:microsoft.com/office/officeart/2005/8/layout/vList2"/>
    <dgm:cxn modelId="{BCDCC92B-3F00-416A-8F7A-29D765712C9A}" srcId="{F4A76FD7-6F5B-4EA2-8E45-4E55AF1ACA1D}" destId="{134354DD-1B65-4631-AC3D-B098DA206EE4}" srcOrd="0" destOrd="0" parTransId="{DFB6818E-DFDA-4A4C-991C-36CAE883D38E}" sibTransId="{DE467F24-C3AC-42E3-875A-9B4409C8ED0D}"/>
    <dgm:cxn modelId="{3B201136-4D7B-4DCE-875F-234BE0EC2960}" type="presOf" srcId="{A41B7BC8-72F2-4739-99B5-EAF27856C304}" destId="{C8A93F79-35D6-471B-AD29-87A29222328D}" srcOrd="0" destOrd="0" presId="urn:microsoft.com/office/officeart/2005/8/layout/vList2"/>
    <dgm:cxn modelId="{4652563E-EFE4-4B59-B9FF-830A8625827F}" srcId="{C47834CE-F3D2-4053-830F-2E6788C8CA88}" destId="{ADDC2374-0A55-4F58-AC26-D409D38FF151}" srcOrd="0" destOrd="0" parTransId="{1CA485E1-21D6-490A-946C-01975583C64F}" sibTransId="{BBB71293-3DB1-4552-8C5F-591B576F2374}"/>
    <dgm:cxn modelId="{D658D55E-245F-4FA7-838D-F6B251E324C9}" type="presOf" srcId="{134354DD-1B65-4631-AC3D-B098DA206EE4}" destId="{5D131EEF-A105-4137-8E59-E48BC65C585C}" srcOrd="0" destOrd="0" presId="urn:microsoft.com/office/officeart/2005/8/layout/vList2"/>
    <dgm:cxn modelId="{2B500A61-8AF5-4B39-B4C6-EF7E0CB07ABE}" type="presOf" srcId="{6C334951-0FAB-4519-A69C-AAADB8C86142}" destId="{B51D918B-764A-4120-A504-8534266481E6}" srcOrd="0" destOrd="0" presId="urn:microsoft.com/office/officeart/2005/8/layout/vList2"/>
    <dgm:cxn modelId="{361A1261-D719-4FAA-8CAF-AA32650FB955}" srcId="{730A2532-B086-4E59-9DE2-E2C8D90CB58D}" destId="{77FE1BC5-F1EA-4C97-928A-F566E52508F2}" srcOrd="0" destOrd="0" parTransId="{FFBE6DC9-8AE3-4DC9-B39C-EA25409D4BDB}" sibTransId="{7709F3DC-AE62-47B2-AA72-51A344FA9B21}"/>
    <dgm:cxn modelId="{C6A6E144-6E0F-4F9D-AA77-730A64A56C5A}" srcId="{F4A76FD7-6F5B-4EA2-8E45-4E55AF1ACA1D}" destId="{730A2532-B086-4E59-9DE2-E2C8D90CB58D}" srcOrd="1" destOrd="0" parTransId="{2DDD1B15-E3B6-4811-8C14-8C89397B07CB}" sibTransId="{ACBFC3D4-CD40-481F-8B1F-602D6DC0DD25}"/>
    <dgm:cxn modelId="{D0C36945-6D83-4A54-9ABB-E39C05D96BE6}" type="presOf" srcId="{FDFDB5CB-A4B0-49DA-91E8-58DE1D0AF958}" destId="{3C9E006D-EA9C-45B5-B831-18FAD19FBF60}" srcOrd="0" destOrd="0" presId="urn:microsoft.com/office/officeart/2005/8/layout/vList2"/>
    <dgm:cxn modelId="{744AEF46-F4C4-4B4F-9DA8-9B925E51B28A}" srcId="{C47834CE-F3D2-4053-830F-2E6788C8CA88}" destId="{F4A76FD7-6F5B-4EA2-8E45-4E55AF1ACA1D}" srcOrd="1" destOrd="0" parTransId="{0317CC4A-7952-4BE6-A856-9BFB213E5BF0}" sibTransId="{7B929FEE-B903-4377-AB70-6922D524A139}"/>
    <dgm:cxn modelId="{5737274C-0441-43FE-A7ED-61F7FAF8A551}" type="presOf" srcId="{71D5348A-4166-4370-8407-25E22D36F117}" destId="{5D131EEF-A105-4137-8E59-E48BC65C585C}" srcOrd="0" destOrd="4" presId="urn:microsoft.com/office/officeart/2005/8/layout/vList2"/>
    <dgm:cxn modelId="{0D5FB56D-AE23-4C13-A055-34CA7EFBF129}" type="presOf" srcId="{706AD34A-C273-44C3-B49C-310CA415AC33}" destId="{8CBA4D75-0646-4907-9D60-F0BD0BE5B007}" srcOrd="0" destOrd="0" presId="urn:microsoft.com/office/officeart/2005/8/layout/vList2"/>
    <dgm:cxn modelId="{5260556F-5D36-4980-B35D-DC59C729A837}" srcId="{6C334951-0FAB-4519-A69C-AAADB8C86142}" destId="{17E1BEF3-B4C3-4DAB-AFB6-8A53FF5AA1C9}" srcOrd="1" destOrd="0" parTransId="{C9F9CB97-202B-4AB4-82CF-B94D8AD4C55B}" sibTransId="{659E73C2-F8E7-4FC1-B396-B330C381CA7E}"/>
    <dgm:cxn modelId="{16F45754-DC06-422B-91E4-DAFEEF045FD4}" type="presOf" srcId="{77FE1BC5-F1EA-4C97-928A-F566E52508F2}" destId="{5D131EEF-A105-4137-8E59-E48BC65C585C}" srcOrd="0" destOrd="2" presId="urn:microsoft.com/office/officeart/2005/8/layout/vList2"/>
    <dgm:cxn modelId="{71E21679-7093-4652-90D6-5A34995E84A7}" srcId="{A41B7BC8-72F2-4739-99B5-EAF27856C304}" destId="{1144E3F5-4D21-4744-8AA7-A9CA4DF14D3F}" srcOrd="3" destOrd="0" parTransId="{78BF581C-5E39-4692-AF3F-E39AF7D5FDA6}" sibTransId="{562DA553-6886-4697-98FE-484C5183EA3D}"/>
    <dgm:cxn modelId="{6A4A7F7C-8C9B-4987-8194-BF7D6B5E5DB9}" type="presOf" srcId="{1144E3F5-4D21-4744-8AA7-A9CA4DF14D3F}" destId="{49C86983-8646-4F32-91B6-73CF9716910B}" srcOrd="0" destOrd="3" presId="urn:microsoft.com/office/officeart/2005/8/layout/vList2"/>
    <dgm:cxn modelId="{5BC75582-C045-479E-B2D5-61E27AB163CA}" type="presOf" srcId="{F4A76FD7-6F5B-4EA2-8E45-4E55AF1ACA1D}" destId="{710EE733-AF27-42EF-B573-AC4997BA74A5}" srcOrd="0" destOrd="0" presId="urn:microsoft.com/office/officeart/2005/8/layout/vList2"/>
    <dgm:cxn modelId="{248BED84-999B-4FF0-9B9D-C061BBDD6BCC}" srcId="{C47834CE-F3D2-4053-830F-2E6788C8CA88}" destId="{6C334951-0FAB-4519-A69C-AAADB8C86142}" srcOrd="2" destOrd="0" parTransId="{AA398B31-E6DD-423E-9E34-60739069233C}" sibTransId="{34F34B17-7ADA-4D49-BDDD-9956E0E2D7BD}"/>
    <dgm:cxn modelId="{095F9787-3C85-4F42-AD75-E06665375909}" srcId="{730A2532-B086-4E59-9DE2-E2C8D90CB58D}" destId="{E376C437-BBD1-4126-B901-059A9B9255A7}" srcOrd="1" destOrd="0" parTransId="{10734DAF-2E3B-41F8-87EF-1631E6DD9F54}" sibTransId="{E94E81FC-2275-4DF1-972F-35CF923D1CAC}"/>
    <dgm:cxn modelId="{804DBC93-1498-4D21-AF04-54F7E0089E98}" srcId="{A41B7BC8-72F2-4739-99B5-EAF27856C304}" destId="{238ED4DA-18F1-4BC3-A985-1E341ECA5A5A}" srcOrd="1" destOrd="0" parTransId="{205C9F8E-A641-41C3-9B97-EE40EDFE6114}" sibTransId="{185F00E9-ED0A-4BFB-8368-4B4B624997FB}"/>
    <dgm:cxn modelId="{E53C01A6-7529-4E24-9E56-D45FCD950D0A}" type="presOf" srcId="{ADDC2374-0A55-4F58-AC26-D409D38FF151}" destId="{16077254-1206-4D27-A335-A3E22082D9F7}" srcOrd="0" destOrd="0" presId="urn:microsoft.com/office/officeart/2005/8/layout/vList2"/>
    <dgm:cxn modelId="{60F6E2A9-1B25-4D04-8A85-6E5EE110899A}" type="presOf" srcId="{238ED4DA-18F1-4BC3-A985-1E341ECA5A5A}" destId="{49C86983-8646-4F32-91B6-73CF9716910B}" srcOrd="0" destOrd="1" presId="urn:microsoft.com/office/officeart/2005/8/layout/vList2"/>
    <dgm:cxn modelId="{DF207EB9-5682-451B-9C24-DC5EAE5C6783}" type="presOf" srcId="{CEB99BDD-5F37-411F-B98B-B1EFA1F43CF8}" destId="{49C86983-8646-4F32-91B6-73CF9716910B}" srcOrd="0" destOrd="2" presId="urn:microsoft.com/office/officeart/2005/8/layout/vList2"/>
    <dgm:cxn modelId="{1906EEB9-3800-47CE-B8BB-BE61246C4995}" srcId="{ADDC2374-0A55-4F58-AC26-D409D38FF151}" destId="{706AD34A-C273-44C3-B49C-310CA415AC33}" srcOrd="0" destOrd="0" parTransId="{C40E9789-81BE-405C-A326-BDDD10381964}" sibTransId="{9396DAE1-38DC-4169-8140-91921359B3E6}"/>
    <dgm:cxn modelId="{5752E6BD-CBB6-492A-A7B6-69C193EB49F2}" type="presOf" srcId="{EF6BABB6-D951-4809-B521-C5B755BCDCCF}" destId="{49C86983-8646-4F32-91B6-73CF9716910B}" srcOrd="0" destOrd="0" presId="urn:microsoft.com/office/officeart/2005/8/layout/vList2"/>
    <dgm:cxn modelId="{EE24F5C0-DD86-4249-81E4-403CBE20FD12}" srcId="{6C334951-0FAB-4519-A69C-AAADB8C86142}" destId="{AA6C5DDA-E7ED-4D1C-8B5F-2CE93BEA77A2}" srcOrd="2" destOrd="0" parTransId="{9A68A661-CB19-4970-91FB-8DE387E791A8}" sibTransId="{089760A9-F1A7-4CAE-9AEF-C619FFEEA8E0}"/>
    <dgm:cxn modelId="{7736A0C6-0169-4A74-A3C5-A4F41CC9397A}" type="presOf" srcId="{C47834CE-F3D2-4053-830F-2E6788C8CA88}" destId="{4E22CD95-5D5E-4B55-AC1B-6F7AE37554FB}" srcOrd="0" destOrd="0" presId="urn:microsoft.com/office/officeart/2005/8/layout/vList2"/>
    <dgm:cxn modelId="{0A2D39C9-D73B-4072-AB01-689803AE3465}" type="presOf" srcId="{17E1BEF3-B4C3-4DAB-AFB6-8A53FF5AA1C9}" destId="{3C9E006D-EA9C-45B5-B831-18FAD19FBF60}" srcOrd="0" destOrd="1" presId="urn:microsoft.com/office/officeart/2005/8/layout/vList2"/>
    <dgm:cxn modelId="{287955CD-E861-4D31-AC4C-4313338181F2}" type="presOf" srcId="{AA6C5DDA-E7ED-4D1C-8B5F-2CE93BEA77A2}" destId="{3C9E006D-EA9C-45B5-B831-18FAD19FBF60}" srcOrd="0" destOrd="2" presId="urn:microsoft.com/office/officeart/2005/8/layout/vList2"/>
    <dgm:cxn modelId="{C5652AE1-F887-40CB-9017-C5D4631C2D3D}" srcId="{A41B7BC8-72F2-4739-99B5-EAF27856C304}" destId="{EF6BABB6-D951-4809-B521-C5B755BCDCCF}" srcOrd="0" destOrd="0" parTransId="{ABD51B03-D268-468A-9047-4615199E8BAF}" sibTransId="{105DEB34-6B2A-4F88-B82A-A62417F44BB3}"/>
    <dgm:cxn modelId="{FCB0E4F2-70AE-4800-811F-E5C3020289F6}" srcId="{730A2532-B086-4E59-9DE2-E2C8D90CB58D}" destId="{71D5348A-4166-4370-8407-25E22D36F117}" srcOrd="2" destOrd="0" parTransId="{163B572D-33D2-47D8-A19D-680BF248B320}" sibTransId="{B4311670-F6A2-4162-B81F-89B8BC525254}"/>
    <dgm:cxn modelId="{F830B6F4-32B1-44E5-921D-A19B75DA02B9}" srcId="{C47834CE-F3D2-4053-830F-2E6788C8CA88}" destId="{A41B7BC8-72F2-4739-99B5-EAF27856C304}" srcOrd="3" destOrd="0" parTransId="{558F65D1-E2C3-4FE6-A6C2-9A78C2809A99}" sibTransId="{E1DFEF69-26A3-44CD-828D-38442ED023A3}"/>
    <dgm:cxn modelId="{F88D7FFA-C3BC-4DC5-809F-1A7E4176B2CF}" type="presOf" srcId="{E376C437-BBD1-4126-B901-059A9B9255A7}" destId="{5D131EEF-A105-4137-8E59-E48BC65C585C}" srcOrd="0" destOrd="3" presId="urn:microsoft.com/office/officeart/2005/8/layout/vList2"/>
    <dgm:cxn modelId="{01ACFA98-FA27-47B2-BA1E-3F8C93ABA245}" type="presParOf" srcId="{4E22CD95-5D5E-4B55-AC1B-6F7AE37554FB}" destId="{16077254-1206-4D27-A335-A3E22082D9F7}" srcOrd="0" destOrd="0" presId="urn:microsoft.com/office/officeart/2005/8/layout/vList2"/>
    <dgm:cxn modelId="{95028A72-5D41-4E2B-AFB2-54993C3BA26D}" type="presParOf" srcId="{4E22CD95-5D5E-4B55-AC1B-6F7AE37554FB}" destId="{8CBA4D75-0646-4907-9D60-F0BD0BE5B007}" srcOrd="1" destOrd="0" presId="urn:microsoft.com/office/officeart/2005/8/layout/vList2"/>
    <dgm:cxn modelId="{0011208B-5354-4CA3-AF7F-9081B3ED2627}" type="presParOf" srcId="{4E22CD95-5D5E-4B55-AC1B-6F7AE37554FB}" destId="{710EE733-AF27-42EF-B573-AC4997BA74A5}" srcOrd="2" destOrd="0" presId="urn:microsoft.com/office/officeart/2005/8/layout/vList2"/>
    <dgm:cxn modelId="{A56F42AD-BAEB-4F1B-85EA-E0D4C24CF09A}" type="presParOf" srcId="{4E22CD95-5D5E-4B55-AC1B-6F7AE37554FB}" destId="{5D131EEF-A105-4137-8E59-E48BC65C585C}" srcOrd="3" destOrd="0" presId="urn:microsoft.com/office/officeart/2005/8/layout/vList2"/>
    <dgm:cxn modelId="{4D47A70C-EEAA-431D-8933-06C0A80ABA10}" type="presParOf" srcId="{4E22CD95-5D5E-4B55-AC1B-6F7AE37554FB}" destId="{B51D918B-764A-4120-A504-8534266481E6}" srcOrd="4" destOrd="0" presId="urn:microsoft.com/office/officeart/2005/8/layout/vList2"/>
    <dgm:cxn modelId="{99C50E8E-E565-4E9E-B9FF-1F0E67DA63BF}" type="presParOf" srcId="{4E22CD95-5D5E-4B55-AC1B-6F7AE37554FB}" destId="{3C9E006D-EA9C-45B5-B831-18FAD19FBF60}" srcOrd="5" destOrd="0" presId="urn:microsoft.com/office/officeart/2005/8/layout/vList2"/>
    <dgm:cxn modelId="{5AF01005-30FF-4349-8957-B77B76F86F3E}" type="presParOf" srcId="{4E22CD95-5D5E-4B55-AC1B-6F7AE37554FB}" destId="{C8A93F79-35D6-471B-AD29-87A29222328D}" srcOrd="6" destOrd="0" presId="urn:microsoft.com/office/officeart/2005/8/layout/vList2"/>
    <dgm:cxn modelId="{253954C2-174D-48C9-A319-AACFE4A09476}" type="presParOf" srcId="{4E22CD95-5D5E-4B55-AC1B-6F7AE37554FB}" destId="{49C86983-8646-4F32-91B6-73CF9716910B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077254-1206-4D27-A335-A3E22082D9F7}">
      <dsp:nvSpPr>
        <dsp:cNvPr id="0" name=""/>
        <dsp:cNvSpPr/>
      </dsp:nvSpPr>
      <dsp:spPr>
        <a:xfrm>
          <a:off x="0" y="170404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What is Object Hallucination?</a:t>
          </a:r>
          <a:endParaRPr lang="en-US" sz="1700" kern="1200"/>
        </a:p>
      </dsp:txBody>
      <dsp:txXfrm>
        <a:off x="20390" y="190794"/>
        <a:ext cx="5217017" cy="376910"/>
      </dsp:txXfrm>
    </dsp:sp>
    <dsp:sp modelId="{8CBA4D75-0646-4907-9D60-F0BD0BE5B007}">
      <dsp:nvSpPr>
        <dsp:cNvPr id="0" name=""/>
        <dsp:cNvSpPr/>
      </dsp:nvSpPr>
      <dsp:spPr>
        <a:xfrm>
          <a:off x="0" y="588094"/>
          <a:ext cx="5257797" cy="4134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A model claims the presence of an object that is </a:t>
          </a:r>
          <a:r>
            <a:rPr lang="en-US" sz="1300" b="1" kern="1200"/>
            <a:t>not present</a:t>
          </a:r>
          <a:r>
            <a:rPr lang="en-US" sz="1300" kern="1200"/>
            <a:t> in the image.</a:t>
          </a:r>
        </a:p>
      </dsp:txBody>
      <dsp:txXfrm>
        <a:off x="0" y="588094"/>
        <a:ext cx="5257797" cy="413482"/>
      </dsp:txXfrm>
    </dsp:sp>
    <dsp:sp modelId="{710EE733-AF27-42EF-B573-AC4997BA74A5}">
      <dsp:nvSpPr>
        <dsp:cNvPr id="0" name=""/>
        <dsp:cNvSpPr/>
      </dsp:nvSpPr>
      <dsp:spPr>
        <a:xfrm>
          <a:off x="0" y="1001577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Motivation</a:t>
          </a:r>
          <a:endParaRPr lang="en-US" sz="1700" kern="1200"/>
        </a:p>
      </dsp:txBody>
      <dsp:txXfrm>
        <a:off x="20390" y="1021967"/>
        <a:ext cx="5217017" cy="376910"/>
      </dsp:txXfrm>
    </dsp:sp>
    <dsp:sp modelId="{5D131EEF-A105-4137-8E59-E48BC65C585C}">
      <dsp:nvSpPr>
        <dsp:cNvPr id="0" name=""/>
        <dsp:cNvSpPr/>
      </dsp:nvSpPr>
      <dsp:spPr>
        <a:xfrm>
          <a:off x="0" y="1419267"/>
          <a:ext cx="5257797" cy="1302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Most prior hallucination studies require </a:t>
          </a:r>
          <a:r>
            <a:rPr lang="en-US" sz="1300" i="1" kern="1200"/>
            <a:t>caption generation + human judgment</a:t>
          </a:r>
          <a:r>
            <a:rPr lang="en-US" sz="1300" kern="1200"/>
            <a:t>.    → Slow, subjective, expensive.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Propose a </a:t>
          </a:r>
          <a:r>
            <a:rPr lang="en-US" sz="1300" b="1" kern="1200"/>
            <a:t>fully automated yes/no probing framework</a:t>
          </a:r>
          <a:r>
            <a:rPr lang="en-US" sz="1300" kern="1200"/>
            <a:t> that: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scales to any number of images, prompts, or models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300" kern="1200"/>
            <a:t>gives stable, quantitative hallucination metrics</a:t>
          </a:r>
          <a:endParaRPr lang="en-US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requires zero human labeling during evaluation</a:t>
          </a:r>
        </a:p>
      </dsp:txBody>
      <dsp:txXfrm>
        <a:off x="0" y="1419267"/>
        <a:ext cx="5257797" cy="1302029"/>
      </dsp:txXfrm>
    </dsp:sp>
    <dsp:sp modelId="{B51D918B-764A-4120-A504-8534266481E6}">
      <dsp:nvSpPr>
        <dsp:cNvPr id="0" name=""/>
        <dsp:cNvSpPr/>
      </dsp:nvSpPr>
      <dsp:spPr>
        <a:xfrm>
          <a:off x="0" y="2721297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Main Idea</a:t>
          </a:r>
          <a:endParaRPr lang="en-US" sz="1700" kern="1200"/>
        </a:p>
      </dsp:txBody>
      <dsp:txXfrm>
        <a:off x="20390" y="2741687"/>
        <a:ext cx="5217017" cy="376910"/>
      </dsp:txXfrm>
    </dsp:sp>
    <dsp:sp modelId="{3C9E006D-EA9C-45B5-B831-18FAD19FBF60}">
      <dsp:nvSpPr>
        <dsp:cNvPr id="0" name=""/>
        <dsp:cNvSpPr/>
      </dsp:nvSpPr>
      <dsp:spPr>
        <a:xfrm>
          <a:off x="0" y="3138987"/>
          <a:ext cx="5257797" cy="6862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Use POPE-style </a:t>
          </a:r>
          <a:r>
            <a:rPr lang="en-US" sz="1300" i="1" kern="1200"/>
            <a:t>object presence probing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Apply baseline / misleading / mitigation prompts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Compute hallucination rate automatically</a:t>
          </a:r>
        </a:p>
      </dsp:txBody>
      <dsp:txXfrm>
        <a:off x="0" y="3138987"/>
        <a:ext cx="5257797" cy="686204"/>
      </dsp:txXfrm>
    </dsp:sp>
    <dsp:sp modelId="{C8A93F79-35D6-471B-AD29-87A29222328D}">
      <dsp:nvSpPr>
        <dsp:cNvPr id="0" name=""/>
        <dsp:cNvSpPr/>
      </dsp:nvSpPr>
      <dsp:spPr>
        <a:xfrm>
          <a:off x="0" y="3825192"/>
          <a:ext cx="5257797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Key Result</a:t>
          </a:r>
          <a:endParaRPr lang="en-US" sz="1700" kern="1200"/>
        </a:p>
      </dsp:txBody>
      <dsp:txXfrm>
        <a:off x="20390" y="3845582"/>
        <a:ext cx="5217017" cy="376910"/>
      </dsp:txXfrm>
    </dsp:sp>
    <dsp:sp modelId="{49C86983-8646-4F32-91B6-73CF9716910B}">
      <dsp:nvSpPr>
        <dsp:cNvPr id="0" name=""/>
        <dsp:cNvSpPr/>
      </dsp:nvSpPr>
      <dsp:spPr>
        <a:xfrm>
          <a:off x="0" y="4242882"/>
          <a:ext cx="5257797" cy="8973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6935" tIns="21590" rIns="120904" bIns="21590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Misleading prompts ↑ hallucination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Mitigation prompts ↓ hallucination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GPT-5.1 &gt; GPT-4o in robustness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300" kern="1200"/>
            <a:t>Workflow is extensible for future research</a:t>
          </a:r>
        </a:p>
      </dsp:txBody>
      <dsp:txXfrm>
        <a:off x="0" y="4242882"/>
        <a:ext cx="5257797" cy="8973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3617A-BAE1-D5F7-AC14-921841F6E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BE7D27-0C94-F060-E387-C53437008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EB152-AEFF-7611-7F0A-1B9BF6E55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38521-1D75-E420-049B-EBD9C748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33765-F603-2207-A2C1-1E8B67FED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492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37459-1ED6-1969-BB4A-F01AAA298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9E44E-D16C-08E3-A529-A5F36C102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4450A-3881-B342-56A7-621A2EEAD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80890-512E-2E64-CF96-DE8F6781D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8D2BB-C2D2-445F-341B-35B2686CE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70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705D9-6959-A965-DF39-6056A14D4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839454-F66F-5E8B-052A-5BD64FDEC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57EE4-10A1-15B3-E94E-679A95832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13591-2127-F78B-09E5-256076ED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32EF8-A771-3DC1-88A2-9E7A32382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6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8DA7-7C8C-9274-D9EF-72E58F8E1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9F0C-CA17-9EEB-C18F-0D4E722DAE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C6035-F961-BE68-6CF1-65464FD72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45C760-0443-C3B1-A7CA-103D6E10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48729-0307-5C14-3D30-FA224FD61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6AB00-E8E2-F1DD-BCB6-C8C9A7D37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3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B03F2-5C55-6566-2280-F04191986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17AD1-9A03-4846-0F62-BA8F07A51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FCF1E2-E49F-A214-46BC-0C768568F8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E5137D-4A1C-CE10-B957-1D4F0B5DE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DA0740-B7D9-A8BC-6CA3-01B0F58718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FA0944-EB88-BB67-7E13-7BD3D4DD2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16089F-F99A-19E1-3030-DBC362B2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9BC502-4D47-F093-9BF5-545130A69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592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8C9F-2985-354A-ACCF-855123F31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20294C-E82B-1152-BFDE-907EAE50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F48C43-8FE3-ACE5-4825-47AFF510E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6E428-2796-AE59-EC14-2538858A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622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A36542-29DF-2B86-0A71-9CD3D143A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5C4145-4F62-FD18-BD90-4AF0EB326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8E4A9-5DAB-ACDB-ED6E-5A9FE3924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06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82D45-CDE3-7E3D-9DAB-FF2BA335B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B2AC2-1A44-6A9B-8947-57CC04A0B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A522A4-314B-966E-0430-6B30D38C1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326C32-5F6C-B883-A07F-06BDC9366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84AD01-1EF6-7E55-DFDF-801BBAE51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B31E53-1FBE-EF14-5F00-551238D98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75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AF9-657E-7DE2-E227-04E912E31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3C316A-18BA-6FCB-3F23-7B22E44FF2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1267A-85C8-CFC6-D144-FE42CA8E15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6544DF-59B1-A3C3-D790-F146769F4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F093F9-B291-1252-E6D7-AD2BE5C27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1F515E-A1AE-40B7-2455-FE9801713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20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9DAD8-35DA-D35F-3D2F-9F03AB7F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790DE3-4D9A-BC0E-836B-8B1FD8B50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695A7-1C1D-EDD1-F4B0-06002F259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34A82-C64C-59FB-71C7-04FBAAEFA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708CD-BA32-DBAB-2233-D3221069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97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52E5B4-6FAE-8082-C06B-690DD7CB4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D34B9D-941A-2CFD-C7B4-DAF809EBE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32CEB-6E8B-37EB-0545-AFF787F0D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D4066-3068-463B-0EFA-45CFD2371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FEDCEF-F364-F783-DEE5-5AD3C1677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53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ADC6E9-2D57-0994-99AE-464722C38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059E-4D66-3E5D-E67E-E760859DD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BB7F03-D31F-DEC4-E80D-2C690D72ED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555FFB-A315-4598-9F8B-B11E2BC34CF3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CB48DC-0263-F7FB-21CB-8EE19FD27D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EAB60-ADA7-6FF8-7D9A-D11B3054F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403507-6316-4FBE-8A4D-88C4C3F297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684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DA1E27-2E12-D303-67F9-B15753285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/>
          </a:bodyPr>
          <a:lstStyle/>
          <a:p>
            <a:r>
              <a:rPr lang="en-US" sz="4800" dirty="0"/>
              <a:t>A Scalable Workflow for Evaluating Object Hallucination in Multimodal 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91F5AF-EB46-9446-DE5D-C0694B7ED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6912" y="5645150"/>
            <a:ext cx="8258176" cy="974014"/>
          </a:xfrm>
        </p:spPr>
        <p:txBody>
          <a:bodyPr anchor="ctr">
            <a:noAutofit/>
          </a:bodyPr>
          <a:lstStyle/>
          <a:p>
            <a:r>
              <a:rPr lang="en-US" sz="1400" dirty="0"/>
              <a:t>X</a:t>
            </a:r>
            <a:r>
              <a:rPr lang="en-US" altLang="zh-CN" sz="1400" dirty="0"/>
              <a:t>iao </a:t>
            </a:r>
            <a:r>
              <a:rPr lang="en-US" altLang="zh-CN" sz="1400" dirty="0" err="1"/>
              <a:t>Xiao</a:t>
            </a:r>
            <a:endParaRPr lang="en-US" altLang="zh-CN" sz="1400" dirty="0"/>
          </a:p>
          <a:p>
            <a:r>
              <a:rPr lang="en-US" sz="1400" dirty="0"/>
              <a:t>MSCS2201-2: Artificial Intelligence</a:t>
            </a:r>
          </a:p>
          <a:p>
            <a:r>
              <a:rPr lang="en-US" sz="1400" dirty="0"/>
              <a:t>Mini Research Project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716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6156E8-243D-C17D-87BB-31F853E68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TL;DR</a:t>
            </a:r>
          </a:p>
        </p:txBody>
      </p:sp>
      <p:pic>
        <p:nvPicPr>
          <p:cNvPr id="21" name="Picture 20" descr="A graph of blue and orange bars&#10;&#10;AI-generated content may be incorrect.">
            <a:extLst>
              <a:ext uri="{FF2B5EF4-FFF2-40B4-BE49-F238E27FC236}">
                <a16:creationId xmlns:a16="http://schemas.microsoft.com/office/drawing/2014/main" id="{83E88A6D-6366-AB43-22E9-86442FD39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619" y="3577112"/>
            <a:ext cx="3951289" cy="2370773"/>
          </a:xfrm>
          <a:prstGeom prst="rect">
            <a:avLst/>
          </a:prstGeom>
        </p:spPr>
      </p:pic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BC76642A-3895-5432-1FB4-E1B054A29A8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0" y="785366"/>
          <a:ext cx="5257797" cy="53106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20034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27C9C-2C86-3E20-DCE6-D7F52141F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1298-E3F9-F93E-B3EA-B2D9A7CBA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1. Caption-based Evaluation: CHAIR</a:t>
            </a:r>
          </a:p>
          <a:p>
            <a:pPr lvl="1"/>
            <a:r>
              <a:rPr lang="en-US" dirty="0"/>
              <a:t>CHAIR: Caption Hallucination Assessment with Image Relevance</a:t>
            </a:r>
          </a:p>
          <a:p>
            <a:pPr lvl="1"/>
            <a:r>
              <a:rPr lang="en-US" dirty="0"/>
              <a:t>Model generates caption</a:t>
            </a:r>
          </a:p>
          <a:p>
            <a:pPr lvl="1"/>
            <a:r>
              <a:rPr lang="en-US" dirty="0"/>
              <a:t>Post-processing checks hallucinated objects</a:t>
            </a:r>
          </a:p>
          <a:p>
            <a:pPr lvl="1"/>
            <a:r>
              <a:rPr lang="en-US" dirty="0"/>
              <a:t>Pros: rich semantics</a:t>
            </a:r>
          </a:p>
          <a:p>
            <a:pPr lvl="1"/>
            <a:r>
              <a:rPr lang="en-US" dirty="0"/>
              <a:t>Cons: </a:t>
            </a:r>
            <a:r>
              <a:rPr lang="en-US" b="1" dirty="0"/>
              <a:t>slow, expensive, not scalable, subjective</a:t>
            </a:r>
            <a:endParaRPr lang="en-US" dirty="0"/>
          </a:p>
          <a:p>
            <a:r>
              <a:rPr lang="en-US" b="1" dirty="0"/>
              <a:t>2. Probing-based Evaluation: POPE</a:t>
            </a:r>
          </a:p>
          <a:p>
            <a:pPr lvl="1"/>
            <a:r>
              <a:rPr lang="en-US" dirty="0"/>
              <a:t>Polling-based Object Probing Evaluation</a:t>
            </a:r>
          </a:p>
          <a:p>
            <a:pPr lvl="1"/>
            <a:r>
              <a:rPr lang="en-US" dirty="0"/>
              <a:t>Ask: “Is there a </a:t>
            </a:r>
            <a:r>
              <a:rPr lang="en-US" i="1" dirty="0"/>
              <a:t>&lt;object&gt;</a:t>
            </a:r>
            <a:r>
              <a:rPr lang="en-US" dirty="0"/>
              <a:t> in the image?”</a:t>
            </a:r>
          </a:p>
          <a:p>
            <a:pPr lvl="1"/>
            <a:r>
              <a:rPr lang="en-US" dirty="0"/>
              <a:t>Model answers yes/no</a:t>
            </a:r>
          </a:p>
          <a:p>
            <a:pPr lvl="1"/>
            <a:r>
              <a:rPr lang="en-US" dirty="0"/>
              <a:t>Fully automatable</a:t>
            </a:r>
          </a:p>
          <a:p>
            <a:pPr lvl="1"/>
            <a:r>
              <a:rPr lang="en-US" dirty="0"/>
              <a:t>Stable metric: hallucination = FP rate</a:t>
            </a:r>
          </a:p>
          <a:p>
            <a:pPr lvl="1"/>
            <a:r>
              <a:rPr lang="en-US" b="1" dirty="0"/>
              <a:t>This is the paradigm used in the study</a:t>
            </a:r>
            <a:endParaRPr lang="en-US" dirty="0"/>
          </a:p>
          <a:p>
            <a:r>
              <a:rPr lang="en-US" b="1" dirty="0"/>
              <a:t>3. Prompt-based hallucination control</a:t>
            </a:r>
          </a:p>
          <a:p>
            <a:pPr lvl="1"/>
            <a:r>
              <a:rPr lang="en-US" b="1" dirty="0"/>
              <a:t>Hallucination Induction (misleading strategy)</a:t>
            </a:r>
            <a:br>
              <a:rPr lang="en-US" dirty="0"/>
            </a:br>
            <a:r>
              <a:rPr lang="en-US" dirty="0"/>
              <a:t>Misleading prompts add prior bias → increases hallucination.</a:t>
            </a:r>
          </a:p>
          <a:p>
            <a:pPr lvl="1"/>
            <a:r>
              <a:rPr lang="en-US" b="1" dirty="0"/>
              <a:t>Hallucination Mitigation (mitigation strategy)</a:t>
            </a:r>
            <a:br>
              <a:rPr lang="en-US" dirty="0"/>
            </a:br>
            <a:r>
              <a:rPr lang="en-US" dirty="0"/>
              <a:t>Hard constraints → e.g., “Do not guess”, “Answer only if visually obvious”.</a:t>
            </a:r>
          </a:p>
          <a:p>
            <a:r>
              <a:rPr lang="en-US" b="1" dirty="0"/>
              <a:t>4. Contribution</a:t>
            </a:r>
          </a:p>
          <a:p>
            <a:pPr lvl="1"/>
            <a:r>
              <a:rPr lang="en-US" dirty="0"/>
              <a:t>Implement a fully automated POPE-style evaluation pipeline</a:t>
            </a:r>
          </a:p>
          <a:p>
            <a:pPr lvl="1"/>
            <a:r>
              <a:rPr lang="en-US" dirty="0"/>
              <a:t>Add programmable </a:t>
            </a:r>
            <a:r>
              <a:rPr lang="en-US" i="1" dirty="0"/>
              <a:t>prompt manipulations</a:t>
            </a:r>
            <a:r>
              <a:rPr lang="en-US" dirty="0"/>
              <a:t> for controlled hallucination testing</a:t>
            </a:r>
          </a:p>
          <a:p>
            <a:pPr lvl="1"/>
            <a:r>
              <a:rPr lang="en-US" dirty="0"/>
              <a:t>Provide a generalizable workflow for future studies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139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289</Words>
  <Application>Microsoft Office PowerPoint</Application>
  <PresentationFormat>Widescreen</PresentationFormat>
  <Paragraphs>43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Theme</vt:lpstr>
      <vt:lpstr>A Scalable Workflow for Evaluating Object Hallucination in Multimodal LLMs</vt:lpstr>
      <vt:lpstr>TL;DR</vt:lpstr>
      <vt:lpstr>Literature 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Xiao, Xiao</dc:creator>
  <cp:lastModifiedBy>Xiao, Xiao</cp:lastModifiedBy>
  <cp:revision>2</cp:revision>
  <dcterms:created xsi:type="dcterms:W3CDTF">2025-12-04T03:45:40Z</dcterms:created>
  <dcterms:modified xsi:type="dcterms:W3CDTF">2025-12-04T04:06:04Z</dcterms:modified>
</cp:coreProperties>
</file>