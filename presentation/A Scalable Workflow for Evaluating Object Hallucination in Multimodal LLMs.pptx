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6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7834CE-F3D2-4053-830F-2E6788C8CA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DC2374-0A55-4F58-AC26-D409D38FF151}">
      <dgm:prSet/>
      <dgm:spPr/>
      <dgm:t>
        <a:bodyPr/>
        <a:lstStyle/>
        <a:p>
          <a:r>
            <a:rPr lang="en-US" b="1"/>
            <a:t>What is Object Hallucination?</a:t>
          </a:r>
          <a:endParaRPr lang="en-US"/>
        </a:p>
      </dgm:t>
    </dgm:pt>
    <dgm:pt modelId="{1CA485E1-21D6-490A-946C-01975583C64F}" type="parTrans" cxnId="{4652563E-EFE4-4B59-B9FF-830A8625827F}">
      <dgm:prSet/>
      <dgm:spPr/>
      <dgm:t>
        <a:bodyPr/>
        <a:lstStyle/>
        <a:p>
          <a:endParaRPr lang="en-US"/>
        </a:p>
      </dgm:t>
    </dgm:pt>
    <dgm:pt modelId="{BBB71293-3DB1-4552-8C5F-591B576F2374}" type="sibTrans" cxnId="{4652563E-EFE4-4B59-B9FF-830A8625827F}">
      <dgm:prSet/>
      <dgm:spPr/>
      <dgm:t>
        <a:bodyPr/>
        <a:lstStyle/>
        <a:p>
          <a:endParaRPr lang="en-US"/>
        </a:p>
      </dgm:t>
    </dgm:pt>
    <dgm:pt modelId="{706AD34A-C273-44C3-B49C-310CA415AC33}">
      <dgm:prSet/>
      <dgm:spPr/>
      <dgm:t>
        <a:bodyPr/>
        <a:lstStyle/>
        <a:p>
          <a:r>
            <a:rPr lang="en-US"/>
            <a:t>A model claims the presence of an object that is </a:t>
          </a:r>
          <a:r>
            <a:rPr lang="en-US" b="1"/>
            <a:t>not present</a:t>
          </a:r>
          <a:r>
            <a:rPr lang="en-US"/>
            <a:t> in the image.</a:t>
          </a:r>
        </a:p>
      </dgm:t>
    </dgm:pt>
    <dgm:pt modelId="{C40E9789-81BE-405C-A326-BDDD10381964}" type="parTrans" cxnId="{1906EEB9-3800-47CE-B8BB-BE61246C4995}">
      <dgm:prSet/>
      <dgm:spPr/>
      <dgm:t>
        <a:bodyPr/>
        <a:lstStyle/>
        <a:p>
          <a:endParaRPr lang="en-US"/>
        </a:p>
      </dgm:t>
    </dgm:pt>
    <dgm:pt modelId="{9396DAE1-38DC-4169-8140-91921359B3E6}" type="sibTrans" cxnId="{1906EEB9-3800-47CE-B8BB-BE61246C4995}">
      <dgm:prSet/>
      <dgm:spPr/>
      <dgm:t>
        <a:bodyPr/>
        <a:lstStyle/>
        <a:p>
          <a:endParaRPr lang="en-US"/>
        </a:p>
      </dgm:t>
    </dgm:pt>
    <dgm:pt modelId="{F4A76FD7-6F5B-4EA2-8E45-4E55AF1ACA1D}">
      <dgm:prSet/>
      <dgm:spPr/>
      <dgm:t>
        <a:bodyPr/>
        <a:lstStyle/>
        <a:p>
          <a:r>
            <a:rPr lang="en-US" b="1"/>
            <a:t>Motivation</a:t>
          </a:r>
          <a:endParaRPr lang="en-US"/>
        </a:p>
      </dgm:t>
    </dgm:pt>
    <dgm:pt modelId="{0317CC4A-7952-4BE6-A856-9BFB213E5BF0}" type="parTrans" cxnId="{744AEF46-F4C4-4B4F-9DA8-9B925E51B28A}">
      <dgm:prSet/>
      <dgm:spPr/>
      <dgm:t>
        <a:bodyPr/>
        <a:lstStyle/>
        <a:p>
          <a:endParaRPr lang="en-US"/>
        </a:p>
      </dgm:t>
    </dgm:pt>
    <dgm:pt modelId="{7B929FEE-B903-4377-AB70-6922D524A139}" type="sibTrans" cxnId="{744AEF46-F4C4-4B4F-9DA8-9B925E51B28A}">
      <dgm:prSet/>
      <dgm:spPr/>
      <dgm:t>
        <a:bodyPr/>
        <a:lstStyle/>
        <a:p>
          <a:endParaRPr lang="en-US"/>
        </a:p>
      </dgm:t>
    </dgm:pt>
    <dgm:pt modelId="{134354DD-1B65-4631-AC3D-B098DA206EE4}">
      <dgm:prSet/>
      <dgm:spPr/>
      <dgm:t>
        <a:bodyPr/>
        <a:lstStyle/>
        <a:p>
          <a:r>
            <a:rPr lang="en-US"/>
            <a:t>Most prior hallucination studies require </a:t>
          </a:r>
          <a:r>
            <a:rPr lang="en-US" i="1"/>
            <a:t>caption generation + human judgment</a:t>
          </a:r>
          <a:r>
            <a:rPr lang="en-US"/>
            <a:t>.    → Slow, subjective, expensive.</a:t>
          </a:r>
        </a:p>
      </dgm:t>
    </dgm:pt>
    <dgm:pt modelId="{DFB6818E-DFDA-4A4C-991C-36CAE883D38E}" type="parTrans" cxnId="{BCDCC92B-3F00-416A-8F7A-29D765712C9A}">
      <dgm:prSet/>
      <dgm:spPr/>
      <dgm:t>
        <a:bodyPr/>
        <a:lstStyle/>
        <a:p>
          <a:endParaRPr lang="en-US"/>
        </a:p>
      </dgm:t>
    </dgm:pt>
    <dgm:pt modelId="{DE467F24-C3AC-42E3-875A-9B4409C8ED0D}" type="sibTrans" cxnId="{BCDCC92B-3F00-416A-8F7A-29D765712C9A}">
      <dgm:prSet/>
      <dgm:spPr/>
      <dgm:t>
        <a:bodyPr/>
        <a:lstStyle/>
        <a:p>
          <a:endParaRPr lang="en-US"/>
        </a:p>
      </dgm:t>
    </dgm:pt>
    <dgm:pt modelId="{730A2532-B086-4E59-9DE2-E2C8D90CB58D}">
      <dgm:prSet/>
      <dgm:spPr/>
      <dgm:t>
        <a:bodyPr/>
        <a:lstStyle/>
        <a:p>
          <a:r>
            <a:rPr lang="en-US"/>
            <a:t>Propose a </a:t>
          </a:r>
          <a:r>
            <a:rPr lang="en-US" b="1"/>
            <a:t>fully automated yes/no probing framework</a:t>
          </a:r>
          <a:r>
            <a:rPr lang="en-US"/>
            <a:t> that:</a:t>
          </a:r>
        </a:p>
      </dgm:t>
    </dgm:pt>
    <dgm:pt modelId="{2DDD1B15-E3B6-4811-8C14-8C89397B07CB}" type="parTrans" cxnId="{C6A6E144-6E0F-4F9D-AA77-730A64A56C5A}">
      <dgm:prSet/>
      <dgm:spPr/>
      <dgm:t>
        <a:bodyPr/>
        <a:lstStyle/>
        <a:p>
          <a:endParaRPr lang="en-US"/>
        </a:p>
      </dgm:t>
    </dgm:pt>
    <dgm:pt modelId="{ACBFC3D4-CD40-481F-8B1F-602D6DC0DD25}" type="sibTrans" cxnId="{C6A6E144-6E0F-4F9D-AA77-730A64A56C5A}">
      <dgm:prSet/>
      <dgm:spPr/>
      <dgm:t>
        <a:bodyPr/>
        <a:lstStyle/>
        <a:p>
          <a:endParaRPr lang="en-US"/>
        </a:p>
      </dgm:t>
    </dgm:pt>
    <dgm:pt modelId="{77FE1BC5-F1EA-4C97-928A-F566E52508F2}">
      <dgm:prSet/>
      <dgm:spPr/>
      <dgm:t>
        <a:bodyPr/>
        <a:lstStyle/>
        <a:p>
          <a:r>
            <a:rPr lang="en-US"/>
            <a:t>scales to any number of images, prompts, or models</a:t>
          </a:r>
        </a:p>
      </dgm:t>
    </dgm:pt>
    <dgm:pt modelId="{FFBE6DC9-8AE3-4DC9-B39C-EA25409D4BDB}" type="parTrans" cxnId="{361A1261-D719-4FAA-8CAF-AA32650FB955}">
      <dgm:prSet/>
      <dgm:spPr/>
      <dgm:t>
        <a:bodyPr/>
        <a:lstStyle/>
        <a:p>
          <a:endParaRPr lang="en-US"/>
        </a:p>
      </dgm:t>
    </dgm:pt>
    <dgm:pt modelId="{7709F3DC-AE62-47B2-AA72-51A344FA9B21}" type="sibTrans" cxnId="{361A1261-D719-4FAA-8CAF-AA32650FB955}">
      <dgm:prSet/>
      <dgm:spPr/>
      <dgm:t>
        <a:bodyPr/>
        <a:lstStyle/>
        <a:p>
          <a:endParaRPr lang="en-US"/>
        </a:p>
      </dgm:t>
    </dgm:pt>
    <dgm:pt modelId="{E376C437-BBD1-4126-B901-059A9B9255A7}">
      <dgm:prSet/>
      <dgm:spPr/>
      <dgm:t>
        <a:bodyPr/>
        <a:lstStyle/>
        <a:p>
          <a:r>
            <a:rPr lang="fr-FR"/>
            <a:t>gives stable, quantitative hallucination metrics</a:t>
          </a:r>
          <a:endParaRPr lang="en-US"/>
        </a:p>
      </dgm:t>
    </dgm:pt>
    <dgm:pt modelId="{10734DAF-2E3B-41F8-87EF-1631E6DD9F54}" type="parTrans" cxnId="{095F9787-3C85-4F42-AD75-E06665375909}">
      <dgm:prSet/>
      <dgm:spPr/>
      <dgm:t>
        <a:bodyPr/>
        <a:lstStyle/>
        <a:p>
          <a:endParaRPr lang="en-US"/>
        </a:p>
      </dgm:t>
    </dgm:pt>
    <dgm:pt modelId="{E94E81FC-2275-4DF1-972F-35CF923D1CAC}" type="sibTrans" cxnId="{095F9787-3C85-4F42-AD75-E06665375909}">
      <dgm:prSet/>
      <dgm:spPr/>
      <dgm:t>
        <a:bodyPr/>
        <a:lstStyle/>
        <a:p>
          <a:endParaRPr lang="en-US"/>
        </a:p>
      </dgm:t>
    </dgm:pt>
    <dgm:pt modelId="{71D5348A-4166-4370-8407-25E22D36F117}">
      <dgm:prSet/>
      <dgm:spPr/>
      <dgm:t>
        <a:bodyPr/>
        <a:lstStyle/>
        <a:p>
          <a:r>
            <a:rPr lang="en-US"/>
            <a:t>requires zero human labeling during evaluation</a:t>
          </a:r>
        </a:p>
      </dgm:t>
    </dgm:pt>
    <dgm:pt modelId="{163B572D-33D2-47D8-A19D-680BF248B320}" type="parTrans" cxnId="{FCB0E4F2-70AE-4800-811F-E5C3020289F6}">
      <dgm:prSet/>
      <dgm:spPr/>
      <dgm:t>
        <a:bodyPr/>
        <a:lstStyle/>
        <a:p>
          <a:endParaRPr lang="en-US"/>
        </a:p>
      </dgm:t>
    </dgm:pt>
    <dgm:pt modelId="{B4311670-F6A2-4162-B81F-89B8BC525254}" type="sibTrans" cxnId="{FCB0E4F2-70AE-4800-811F-E5C3020289F6}">
      <dgm:prSet/>
      <dgm:spPr/>
      <dgm:t>
        <a:bodyPr/>
        <a:lstStyle/>
        <a:p>
          <a:endParaRPr lang="en-US"/>
        </a:p>
      </dgm:t>
    </dgm:pt>
    <dgm:pt modelId="{6C334951-0FAB-4519-A69C-AAADB8C86142}">
      <dgm:prSet/>
      <dgm:spPr/>
      <dgm:t>
        <a:bodyPr/>
        <a:lstStyle/>
        <a:p>
          <a:r>
            <a:rPr lang="en-US" b="1"/>
            <a:t>Main Idea</a:t>
          </a:r>
          <a:endParaRPr lang="en-US"/>
        </a:p>
      </dgm:t>
    </dgm:pt>
    <dgm:pt modelId="{AA398B31-E6DD-423E-9E34-60739069233C}" type="parTrans" cxnId="{248BED84-999B-4FF0-9B9D-C061BBDD6BCC}">
      <dgm:prSet/>
      <dgm:spPr/>
      <dgm:t>
        <a:bodyPr/>
        <a:lstStyle/>
        <a:p>
          <a:endParaRPr lang="en-US"/>
        </a:p>
      </dgm:t>
    </dgm:pt>
    <dgm:pt modelId="{34F34B17-7ADA-4D49-BDDD-9956E0E2D7BD}" type="sibTrans" cxnId="{248BED84-999B-4FF0-9B9D-C061BBDD6BCC}">
      <dgm:prSet/>
      <dgm:spPr/>
      <dgm:t>
        <a:bodyPr/>
        <a:lstStyle/>
        <a:p>
          <a:endParaRPr lang="en-US"/>
        </a:p>
      </dgm:t>
    </dgm:pt>
    <dgm:pt modelId="{FDFDB5CB-A4B0-49DA-91E8-58DE1D0AF958}">
      <dgm:prSet/>
      <dgm:spPr/>
      <dgm:t>
        <a:bodyPr/>
        <a:lstStyle/>
        <a:p>
          <a:r>
            <a:rPr lang="en-US"/>
            <a:t>Use POPE-style </a:t>
          </a:r>
          <a:r>
            <a:rPr lang="en-US" i="1"/>
            <a:t>object presence probing</a:t>
          </a:r>
          <a:endParaRPr lang="en-US"/>
        </a:p>
      </dgm:t>
    </dgm:pt>
    <dgm:pt modelId="{E90FEF86-0973-4D07-A68C-F6DFBF846231}" type="parTrans" cxnId="{279A890A-E01D-4A5E-A5C6-AD3009D1AA40}">
      <dgm:prSet/>
      <dgm:spPr/>
      <dgm:t>
        <a:bodyPr/>
        <a:lstStyle/>
        <a:p>
          <a:endParaRPr lang="en-US"/>
        </a:p>
      </dgm:t>
    </dgm:pt>
    <dgm:pt modelId="{90166DCE-3311-42C6-ACF5-972B5C186FAC}" type="sibTrans" cxnId="{279A890A-E01D-4A5E-A5C6-AD3009D1AA40}">
      <dgm:prSet/>
      <dgm:spPr/>
      <dgm:t>
        <a:bodyPr/>
        <a:lstStyle/>
        <a:p>
          <a:endParaRPr lang="en-US"/>
        </a:p>
      </dgm:t>
    </dgm:pt>
    <dgm:pt modelId="{17E1BEF3-B4C3-4DAB-AFB6-8A53FF5AA1C9}">
      <dgm:prSet/>
      <dgm:spPr/>
      <dgm:t>
        <a:bodyPr/>
        <a:lstStyle/>
        <a:p>
          <a:r>
            <a:rPr lang="en-US"/>
            <a:t>Apply baseline / misleading / mitigation prompts</a:t>
          </a:r>
        </a:p>
      </dgm:t>
    </dgm:pt>
    <dgm:pt modelId="{C9F9CB97-202B-4AB4-82CF-B94D8AD4C55B}" type="parTrans" cxnId="{5260556F-5D36-4980-B35D-DC59C729A837}">
      <dgm:prSet/>
      <dgm:spPr/>
      <dgm:t>
        <a:bodyPr/>
        <a:lstStyle/>
        <a:p>
          <a:endParaRPr lang="en-US"/>
        </a:p>
      </dgm:t>
    </dgm:pt>
    <dgm:pt modelId="{659E73C2-F8E7-4FC1-B396-B330C381CA7E}" type="sibTrans" cxnId="{5260556F-5D36-4980-B35D-DC59C729A837}">
      <dgm:prSet/>
      <dgm:spPr/>
      <dgm:t>
        <a:bodyPr/>
        <a:lstStyle/>
        <a:p>
          <a:endParaRPr lang="en-US"/>
        </a:p>
      </dgm:t>
    </dgm:pt>
    <dgm:pt modelId="{AA6C5DDA-E7ED-4D1C-8B5F-2CE93BEA77A2}">
      <dgm:prSet/>
      <dgm:spPr/>
      <dgm:t>
        <a:bodyPr/>
        <a:lstStyle/>
        <a:p>
          <a:r>
            <a:rPr lang="en-US"/>
            <a:t>Compute hallucination rate automatically</a:t>
          </a:r>
        </a:p>
      </dgm:t>
    </dgm:pt>
    <dgm:pt modelId="{9A68A661-CB19-4970-91FB-8DE387E791A8}" type="parTrans" cxnId="{EE24F5C0-DD86-4249-81E4-403CBE20FD12}">
      <dgm:prSet/>
      <dgm:spPr/>
      <dgm:t>
        <a:bodyPr/>
        <a:lstStyle/>
        <a:p>
          <a:endParaRPr lang="en-US"/>
        </a:p>
      </dgm:t>
    </dgm:pt>
    <dgm:pt modelId="{089760A9-F1A7-4CAE-9AEF-C619FFEEA8E0}" type="sibTrans" cxnId="{EE24F5C0-DD86-4249-81E4-403CBE20FD12}">
      <dgm:prSet/>
      <dgm:spPr/>
      <dgm:t>
        <a:bodyPr/>
        <a:lstStyle/>
        <a:p>
          <a:endParaRPr lang="en-US"/>
        </a:p>
      </dgm:t>
    </dgm:pt>
    <dgm:pt modelId="{A41B7BC8-72F2-4739-99B5-EAF27856C304}">
      <dgm:prSet/>
      <dgm:spPr/>
      <dgm:t>
        <a:bodyPr/>
        <a:lstStyle/>
        <a:p>
          <a:r>
            <a:rPr lang="en-US" b="1"/>
            <a:t>Key Result</a:t>
          </a:r>
          <a:endParaRPr lang="en-US"/>
        </a:p>
      </dgm:t>
    </dgm:pt>
    <dgm:pt modelId="{558F65D1-E2C3-4FE6-A6C2-9A78C2809A99}" type="parTrans" cxnId="{F830B6F4-32B1-44E5-921D-A19B75DA02B9}">
      <dgm:prSet/>
      <dgm:spPr/>
      <dgm:t>
        <a:bodyPr/>
        <a:lstStyle/>
        <a:p>
          <a:endParaRPr lang="en-US"/>
        </a:p>
      </dgm:t>
    </dgm:pt>
    <dgm:pt modelId="{E1DFEF69-26A3-44CD-828D-38442ED023A3}" type="sibTrans" cxnId="{F830B6F4-32B1-44E5-921D-A19B75DA02B9}">
      <dgm:prSet/>
      <dgm:spPr/>
      <dgm:t>
        <a:bodyPr/>
        <a:lstStyle/>
        <a:p>
          <a:endParaRPr lang="en-US"/>
        </a:p>
      </dgm:t>
    </dgm:pt>
    <dgm:pt modelId="{EF6BABB6-D951-4809-B521-C5B755BCDCCF}">
      <dgm:prSet/>
      <dgm:spPr/>
      <dgm:t>
        <a:bodyPr/>
        <a:lstStyle/>
        <a:p>
          <a:r>
            <a:rPr lang="en-US"/>
            <a:t>Misleading prompts ↑ hallucination</a:t>
          </a:r>
        </a:p>
      </dgm:t>
    </dgm:pt>
    <dgm:pt modelId="{ABD51B03-D268-468A-9047-4615199E8BAF}" type="parTrans" cxnId="{C5652AE1-F887-40CB-9017-C5D4631C2D3D}">
      <dgm:prSet/>
      <dgm:spPr/>
      <dgm:t>
        <a:bodyPr/>
        <a:lstStyle/>
        <a:p>
          <a:endParaRPr lang="en-US"/>
        </a:p>
      </dgm:t>
    </dgm:pt>
    <dgm:pt modelId="{105DEB34-6B2A-4F88-B82A-A62417F44BB3}" type="sibTrans" cxnId="{C5652AE1-F887-40CB-9017-C5D4631C2D3D}">
      <dgm:prSet/>
      <dgm:spPr/>
      <dgm:t>
        <a:bodyPr/>
        <a:lstStyle/>
        <a:p>
          <a:endParaRPr lang="en-US"/>
        </a:p>
      </dgm:t>
    </dgm:pt>
    <dgm:pt modelId="{238ED4DA-18F1-4BC3-A985-1E341ECA5A5A}">
      <dgm:prSet/>
      <dgm:spPr/>
      <dgm:t>
        <a:bodyPr/>
        <a:lstStyle/>
        <a:p>
          <a:r>
            <a:rPr lang="en-US"/>
            <a:t>Mitigation prompts ↓ hallucination</a:t>
          </a:r>
        </a:p>
      </dgm:t>
    </dgm:pt>
    <dgm:pt modelId="{205C9F8E-A641-41C3-9B97-EE40EDFE6114}" type="parTrans" cxnId="{804DBC93-1498-4D21-AF04-54F7E0089E98}">
      <dgm:prSet/>
      <dgm:spPr/>
      <dgm:t>
        <a:bodyPr/>
        <a:lstStyle/>
        <a:p>
          <a:endParaRPr lang="en-US"/>
        </a:p>
      </dgm:t>
    </dgm:pt>
    <dgm:pt modelId="{185F00E9-ED0A-4BFB-8368-4B4B624997FB}" type="sibTrans" cxnId="{804DBC93-1498-4D21-AF04-54F7E0089E98}">
      <dgm:prSet/>
      <dgm:spPr/>
      <dgm:t>
        <a:bodyPr/>
        <a:lstStyle/>
        <a:p>
          <a:endParaRPr lang="en-US"/>
        </a:p>
      </dgm:t>
    </dgm:pt>
    <dgm:pt modelId="{CEB99BDD-5F37-411F-B98B-B1EFA1F43CF8}">
      <dgm:prSet/>
      <dgm:spPr/>
      <dgm:t>
        <a:bodyPr/>
        <a:lstStyle/>
        <a:p>
          <a:r>
            <a:rPr lang="en-US"/>
            <a:t>GPT-5.1 &gt; GPT-4o in robustness</a:t>
          </a:r>
        </a:p>
      </dgm:t>
    </dgm:pt>
    <dgm:pt modelId="{D5BD57AA-A1A7-429C-8364-931553E7B098}" type="parTrans" cxnId="{54D3FD16-6696-4914-8190-139419C6671B}">
      <dgm:prSet/>
      <dgm:spPr/>
      <dgm:t>
        <a:bodyPr/>
        <a:lstStyle/>
        <a:p>
          <a:endParaRPr lang="en-US"/>
        </a:p>
      </dgm:t>
    </dgm:pt>
    <dgm:pt modelId="{6EA6D3F3-BE6B-4F5F-946D-FC8D99BC8C6F}" type="sibTrans" cxnId="{54D3FD16-6696-4914-8190-139419C6671B}">
      <dgm:prSet/>
      <dgm:spPr/>
      <dgm:t>
        <a:bodyPr/>
        <a:lstStyle/>
        <a:p>
          <a:endParaRPr lang="en-US"/>
        </a:p>
      </dgm:t>
    </dgm:pt>
    <dgm:pt modelId="{1144E3F5-4D21-4744-8AA7-A9CA4DF14D3F}">
      <dgm:prSet/>
      <dgm:spPr/>
      <dgm:t>
        <a:bodyPr/>
        <a:lstStyle/>
        <a:p>
          <a:r>
            <a:rPr lang="en-US"/>
            <a:t>Workflow is extensible for future research</a:t>
          </a:r>
        </a:p>
      </dgm:t>
    </dgm:pt>
    <dgm:pt modelId="{78BF581C-5E39-4692-AF3F-E39AF7D5FDA6}" type="parTrans" cxnId="{71E21679-7093-4652-90D6-5A34995E84A7}">
      <dgm:prSet/>
      <dgm:spPr/>
      <dgm:t>
        <a:bodyPr/>
        <a:lstStyle/>
        <a:p>
          <a:endParaRPr lang="en-US"/>
        </a:p>
      </dgm:t>
    </dgm:pt>
    <dgm:pt modelId="{562DA553-6886-4697-98FE-484C5183EA3D}" type="sibTrans" cxnId="{71E21679-7093-4652-90D6-5A34995E84A7}">
      <dgm:prSet/>
      <dgm:spPr/>
      <dgm:t>
        <a:bodyPr/>
        <a:lstStyle/>
        <a:p>
          <a:endParaRPr lang="en-US"/>
        </a:p>
      </dgm:t>
    </dgm:pt>
    <dgm:pt modelId="{4E22CD95-5D5E-4B55-AC1B-6F7AE37554FB}" type="pres">
      <dgm:prSet presAssocID="{C47834CE-F3D2-4053-830F-2E6788C8CA88}" presName="linear" presStyleCnt="0">
        <dgm:presLayoutVars>
          <dgm:animLvl val="lvl"/>
          <dgm:resizeHandles val="exact"/>
        </dgm:presLayoutVars>
      </dgm:prSet>
      <dgm:spPr/>
    </dgm:pt>
    <dgm:pt modelId="{16077254-1206-4D27-A335-A3E22082D9F7}" type="pres">
      <dgm:prSet presAssocID="{ADDC2374-0A55-4F58-AC26-D409D38FF1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CBA4D75-0646-4907-9D60-F0BD0BE5B007}" type="pres">
      <dgm:prSet presAssocID="{ADDC2374-0A55-4F58-AC26-D409D38FF151}" presName="childText" presStyleLbl="revTx" presStyleIdx="0" presStyleCnt="4">
        <dgm:presLayoutVars>
          <dgm:bulletEnabled val="1"/>
        </dgm:presLayoutVars>
      </dgm:prSet>
      <dgm:spPr/>
    </dgm:pt>
    <dgm:pt modelId="{710EE733-AF27-42EF-B573-AC4997BA74A5}" type="pres">
      <dgm:prSet presAssocID="{F4A76FD7-6F5B-4EA2-8E45-4E55AF1ACA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D131EEF-A105-4137-8E59-E48BC65C585C}" type="pres">
      <dgm:prSet presAssocID="{F4A76FD7-6F5B-4EA2-8E45-4E55AF1ACA1D}" presName="childText" presStyleLbl="revTx" presStyleIdx="1" presStyleCnt="4">
        <dgm:presLayoutVars>
          <dgm:bulletEnabled val="1"/>
        </dgm:presLayoutVars>
      </dgm:prSet>
      <dgm:spPr/>
    </dgm:pt>
    <dgm:pt modelId="{B51D918B-764A-4120-A504-8534266481E6}" type="pres">
      <dgm:prSet presAssocID="{6C334951-0FAB-4519-A69C-AAADB8C861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9E006D-EA9C-45B5-B831-18FAD19FBF60}" type="pres">
      <dgm:prSet presAssocID="{6C334951-0FAB-4519-A69C-AAADB8C86142}" presName="childText" presStyleLbl="revTx" presStyleIdx="2" presStyleCnt="4">
        <dgm:presLayoutVars>
          <dgm:bulletEnabled val="1"/>
        </dgm:presLayoutVars>
      </dgm:prSet>
      <dgm:spPr/>
    </dgm:pt>
    <dgm:pt modelId="{C8A93F79-35D6-471B-AD29-87A29222328D}" type="pres">
      <dgm:prSet presAssocID="{A41B7BC8-72F2-4739-99B5-EAF27856C30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9C86983-8646-4F32-91B6-73CF9716910B}" type="pres">
      <dgm:prSet presAssocID="{A41B7BC8-72F2-4739-99B5-EAF27856C304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F6283600-B2D8-45A4-B62D-0E038596A7C8}" type="presOf" srcId="{CEB99BDD-5F37-411F-B98B-B1EFA1F43CF8}" destId="{49C86983-8646-4F32-91B6-73CF9716910B}" srcOrd="0" destOrd="2" presId="urn:microsoft.com/office/officeart/2005/8/layout/vList2"/>
    <dgm:cxn modelId="{B5522306-3345-4F29-A18E-52B4F79600EE}" type="presOf" srcId="{238ED4DA-18F1-4BC3-A985-1E341ECA5A5A}" destId="{49C86983-8646-4F32-91B6-73CF9716910B}" srcOrd="0" destOrd="1" presId="urn:microsoft.com/office/officeart/2005/8/layout/vList2"/>
    <dgm:cxn modelId="{279A890A-E01D-4A5E-A5C6-AD3009D1AA40}" srcId="{6C334951-0FAB-4519-A69C-AAADB8C86142}" destId="{FDFDB5CB-A4B0-49DA-91E8-58DE1D0AF958}" srcOrd="0" destOrd="0" parTransId="{E90FEF86-0973-4D07-A68C-F6DFBF846231}" sibTransId="{90166DCE-3311-42C6-ACF5-972B5C186FAC}"/>
    <dgm:cxn modelId="{54D3FD16-6696-4914-8190-139419C6671B}" srcId="{A41B7BC8-72F2-4739-99B5-EAF27856C304}" destId="{CEB99BDD-5F37-411F-B98B-B1EFA1F43CF8}" srcOrd="2" destOrd="0" parTransId="{D5BD57AA-A1A7-429C-8364-931553E7B098}" sibTransId="{6EA6D3F3-BE6B-4F5F-946D-FC8D99BC8C6F}"/>
    <dgm:cxn modelId="{3AE42A1F-E092-47BE-A9B2-3C38AAF49E10}" type="presOf" srcId="{706AD34A-C273-44C3-B49C-310CA415AC33}" destId="{8CBA4D75-0646-4907-9D60-F0BD0BE5B007}" srcOrd="0" destOrd="0" presId="urn:microsoft.com/office/officeart/2005/8/layout/vList2"/>
    <dgm:cxn modelId="{0AEC3C23-61F1-47AB-AF0E-F0DA8553CE81}" type="presOf" srcId="{EF6BABB6-D951-4809-B521-C5B755BCDCCF}" destId="{49C86983-8646-4F32-91B6-73CF9716910B}" srcOrd="0" destOrd="0" presId="urn:microsoft.com/office/officeart/2005/8/layout/vList2"/>
    <dgm:cxn modelId="{F5C80A26-85BA-4FCE-9AFC-9E86152416CD}" type="presOf" srcId="{A41B7BC8-72F2-4739-99B5-EAF27856C304}" destId="{C8A93F79-35D6-471B-AD29-87A29222328D}" srcOrd="0" destOrd="0" presId="urn:microsoft.com/office/officeart/2005/8/layout/vList2"/>
    <dgm:cxn modelId="{9A485028-C651-45A4-9CFE-2207E8F6D971}" type="presOf" srcId="{71D5348A-4166-4370-8407-25E22D36F117}" destId="{5D131EEF-A105-4137-8E59-E48BC65C585C}" srcOrd="0" destOrd="4" presId="urn:microsoft.com/office/officeart/2005/8/layout/vList2"/>
    <dgm:cxn modelId="{BCDCC92B-3F00-416A-8F7A-29D765712C9A}" srcId="{F4A76FD7-6F5B-4EA2-8E45-4E55AF1ACA1D}" destId="{134354DD-1B65-4631-AC3D-B098DA206EE4}" srcOrd="0" destOrd="0" parTransId="{DFB6818E-DFDA-4A4C-991C-36CAE883D38E}" sibTransId="{DE467F24-C3AC-42E3-875A-9B4409C8ED0D}"/>
    <dgm:cxn modelId="{FA0C513C-9F9A-4A4F-BA32-0796E5E27CED}" type="presOf" srcId="{FDFDB5CB-A4B0-49DA-91E8-58DE1D0AF958}" destId="{3C9E006D-EA9C-45B5-B831-18FAD19FBF60}" srcOrd="0" destOrd="0" presId="urn:microsoft.com/office/officeart/2005/8/layout/vList2"/>
    <dgm:cxn modelId="{4652563E-EFE4-4B59-B9FF-830A8625827F}" srcId="{C47834CE-F3D2-4053-830F-2E6788C8CA88}" destId="{ADDC2374-0A55-4F58-AC26-D409D38FF151}" srcOrd="0" destOrd="0" parTransId="{1CA485E1-21D6-490A-946C-01975583C64F}" sibTransId="{BBB71293-3DB1-4552-8C5F-591B576F2374}"/>
    <dgm:cxn modelId="{2DB3FE5F-14AB-47B3-8414-A3BAD15C219F}" type="presOf" srcId="{C47834CE-F3D2-4053-830F-2E6788C8CA88}" destId="{4E22CD95-5D5E-4B55-AC1B-6F7AE37554FB}" srcOrd="0" destOrd="0" presId="urn:microsoft.com/office/officeart/2005/8/layout/vList2"/>
    <dgm:cxn modelId="{361A1261-D719-4FAA-8CAF-AA32650FB955}" srcId="{730A2532-B086-4E59-9DE2-E2C8D90CB58D}" destId="{77FE1BC5-F1EA-4C97-928A-F566E52508F2}" srcOrd="0" destOrd="0" parTransId="{FFBE6DC9-8AE3-4DC9-B39C-EA25409D4BDB}" sibTransId="{7709F3DC-AE62-47B2-AA72-51A344FA9B21}"/>
    <dgm:cxn modelId="{C6A6E144-6E0F-4F9D-AA77-730A64A56C5A}" srcId="{F4A76FD7-6F5B-4EA2-8E45-4E55AF1ACA1D}" destId="{730A2532-B086-4E59-9DE2-E2C8D90CB58D}" srcOrd="1" destOrd="0" parTransId="{2DDD1B15-E3B6-4811-8C14-8C89397B07CB}" sibTransId="{ACBFC3D4-CD40-481F-8B1F-602D6DC0DD25}"/>
    <dgm:cxn modelId="{6CBFD766-52B3-41B7-A834-15E927D02653}" type="presOf" srcId="{730A2532-B086-4E59-9DE2-E2C8D90CB58D}" destId="{5D131EEF-A105-4137-8E59-E48BC65C585C}" srcOrd="0" destOrd="1" presId="urn:microsoft.com/office/officeart/2005/8/layout/vList2"/>
    <dgm:cxn modelId="{744AEF46-F4C4-4B4F-9DA8-9B925E51B28A}" srcId="{C47834CE-F3D2-4053-830F-2E6788C8CA88}" destId="{F4A76FD7-6F5B-4EA2-8E45-4E55AF1ACA1D}" srcOrd="1" destOrd="0" parTransId="{0317CC4A-7952-4BE6-A856-9BFB213E5BF0}" sibTransId="{7B929FEE-B903-4377-AB70-6922D524A139}"/>
    <dgm:cxn modelId="{5260556F-5D36-4980-B35D-DC59C729A837}" srcId="{6C334951-0FAB-4519-A69C-AAADB8C86142}" destId="{17E1BEF3-B4C3-4DAB-AFB6-8A53FF5AA1C9}" srcOrd="1" destOrd="0" parTransId="{C9F9CB97-202B-4AB4-82CF-B94D8AD4C55B}" sibTransId="{659E73C2-F8E7-4FC1-B396-B330C381CA7E}"/>
    <dgm:cxn modelId="{0A91CB51-65FA-4C69-A962-E3E6CBCCEBA4}" type="presOf" srcId="{AA6C5DDA-E7ED-4D1C-8B5F-2CE93BEA77A2}" destId="{3C9E006D-EA9C-45B5-B831-18FAD19FBF60}" srcOrd="0" destOrd="2" presId="urn:microsoft.com/office/officeart/2005/8/layout/vList2"/>
    <dgm:cxn modelId="{0CE14E56-BC1F-465A-A0BD-6B045BECC3B6}" type="presOf" srcId="{77FE1BC5-F1EA-4C97-928A-F566E52508F2}" destId="{5D131EEF-A105-4137-8E59-E48BC65C585C}" srcOrd="0" destOrd="2" presId="urn:microsoft.com/office/officeart/2005/8/layout/vList2"/>
    <dgm:cxn modelId="{0DA07777-2E2E-4D5E-B745-DB514E36DA68}" type="presOf" srcId="{F4A76FD7-6F5B-4EA2-8E45-4E55AF1ACA1D}" destId="{710EE733-AF27-42EF-B573-AC4997BA74A5}" srcOrd="0" destOrd="0" presId="urn:microsoft.com/office/officeart/2005/8/layout/vList2"/>
    <dgm:cxn modelId="{71E21679-7093-4652-90D6-5A34995E84A7}" srcId="{A41B7BC8-72F2-4739-99B5-EAF27856C304}" destId="{1144E3F5-4D21-4744-8AA7-A9CA4DF14D3F}" srcOrd="3" destOrd="0" parTransId="{78BF581C-5E39-4692-AF3F-E39AF7D5FDA6}" sibTransId="{562DA553-6886-4697-98FE-484C5183EA3D}"/>
    <dgm:cxn modelId="{84FB6280-BF03-48DC-A36F-04330465D20A}" type="presOf" srcId="{6C334951-0FAB-4519-A69C-AAADB8C86142}" destId="{B51D918B-764A-4120-A504-8534266481E6}" srcOrd="0" destOrd="0" presId="urn:microsoft.com/office/officeart/2005/8/layout/vList2"/>
    <dgm:cxn modelId="{248BED84-999B-4FF0-9B9D-C061BBDD6BCC}" srcId="{C47834CE-F3D2-4053-830F-2E6788C8CA88}" destId="{6C334951-0FAB-4519-A69C-AAADB8C86142}" srcOrd="2" destOrd="0" parTransId="{AA398B31-E6DD-423E-9E34-60739069233C}" sibTransId="{34F34B17-7ADA-4D49-BDDD-9956E0E2D7BD}"/>
    <dgm:cxn modelId="{095F9787-3C85-4F42-AD75-E06665375909}" srcId="{730A2532-B086-4E59-9DE2-E2C8D90CB58D}" destId="{E376C437-BBD1-4126-B901-059A9B9255A7}" srcOrd="1" destOrd="0" parTransId="{10734DAF-2E3B-41F8-87EF-1631E6DD9F54}" sibTransId="{E94E81FC-2275-4DF1-972F-35CF923D1CAC}"/>
    <dgm:cxn modelId="{804DBC93-1498-4D21-AF04-54F7E0089E98}" srcId="{A41B7BC8-72F2-4739-99B5-EAF27856C304}" destId="{238ED4DA-18F1-4BC3-A985-1E341ECA5A5A}" srcOrd="1" destOrd="0" parTransId="{205C9F8E-A641-41C3-9B97-EE40EDFE6114}" sibTransId="{185F00E9-ED0A-4BFB-8368-4B4B624997FB}"/>
    <dgm:cxn modelId="{2F5F17A6-1E32-4659-9E52-ED80973D7BE3}" type="presOf" srcId="{134354DD-1B65-4631-AC3D-B098DA206EE4}" destId="{5D131EEF-A105-4137-8E59-E48BC65C585C}" srcOrd="0" destOrd="0" presId="urn:microsoft.com/office/officeart/2005/8/layout/vList2"/>
    <dgm:cxn modelId="{E4D848AA-035D-449F-B2DE-CD3820F118C3}" type="presOf" srcId="{E376C437-BBD1-4126-B901-059A9B9255A7}" destId="{5D131EEF-A105-4137-8E59-E48BC65C585C}" srcOrd="0" destOrd="3" presId="urn:microsoft.com/office/officeart/2005/8/layout/vList2"/>
    <dgm:cxn modelId="{1E5C9FB7-EDA4-4EBA-9D1B-80CDDE571D88}" type="presOf" srcId="{ADDC2374-0A55-4F58-AC26-D409D38FF151}" destId="{16077254-1206-4D27-A335-A3E22082D9F7}" srcOrd="0" destOrd="0" presId="urn:microsoft.com/office/officeart/2005/8/layout/vList2"/>
    <dgm:cxn modelId="{1906EEB9-3800-47CE-B8BB-BE61246C4995}" srcId="{ADDC2374-0A55-4F58-AC26-D409D38FF151}" destId="{706AD34A-C273-44C3-B49C-310CA415AC33}" srcOrd="0" destOrd="0" parTransId="{C40E9789-81BE-405C-A326-BDDD10381964}" sibTransId="{9396DAE1-38DC-4169-8140-91921359B3E6}"/>
    <dgm:cxn modelId="{EE24F5C0-DD86-4249-81E4-403CBE20FD12}" srcId="{6C334951-0FAB-4519-A69C-AAADB8C86142}" destId="{AA6C5DDA-E7ED-4D1C-8B5F-2CE93BEA77A2}" srcOrd="2" destOrd="0" parTransId="{9A68A661-CB19-4970-91FB-8DE387E791A8}" sibTransId="{089760A9-F1A7-4CAE-9AEF-C619FFEEA8E0}"/>
    <dgm:cxn modelId="{E8CCEDE0-3C14-4B31-BA36-185065653ECF}" type="presOf" srcId="{17E1BEF3-B4C3-4DAB-AFB6-8A53FF5AA1C9}" destId="{3C9E006D-EA9C-45B5-B831-18FAD19FBF60}" srcOrd="0" destOrd="1" presId="urn:microsoft.com/office/officeart/2005/8/layout/vList2"/>
    <dgm:cxn modelId="{C5652AE1-F887-40CB-9017-C5D4631C2D3D}" srcId="{A41B7BC8-72F2-4739-99B5-EAF27856C304}" destId="{EF6BABB6-D951-4809-B521-C5B755BCDCCF}" srcOrd="0" destOrd="0" parTransId="{ABD51B03-D268-468A-9047-4615199E8BAF}" sibTransId="{105DEB34-6B2A-4F88-B82A-A62417F44BB3}"/>
    <dgm:cxn modelId="{FCB0E4F2-70AE-4800-811F-E5C3020289F6}" srcId="{730A2532-B086-4E59-9DE2-E2C8D90CB58D}" destId="{71D5348A-4166-4370-8407-25E22D36F117}" srcOrd="2" destOrd="0" parTransId="{163B572D-33D2-47D8-A19D-680BF248B320}" sibTransId="{B4311670-F6A2-4162-B81F-89B8BC525254}"/>
    <dgm:cxn modelId="{F830B6F4-32B1-44E5-921D-A19B75DA02B9}" srcId="{C47834CE-F3D2-4053-830F-2E6788C8CA88}" destId="{A41B7BC8-72F2-4739-99B5-EAF27856C304}" srcOrd="3" destOrd="0" parTransId="{558F65D1-E2C3-4FE6-A6C2-9A78C2809A99}" sibTransId="{E1DFEF69-26A3-44CD-828D-38442ED023A3}"/>
    <dgm:cxn modelId="{300277F8-71BD-47FA-B894-2C731DED0CE3}" type="presOf" srcId="{1144E3F5-4D21-4744-8AA7-A9CA4DF14D3F}" destId="{49C86983-8646-4F32-91B6-73CF9716910B}" srcOrd="0" destOrd="3" presId="urn:microsoft.com/office/officeart/2005/8/layout/vList2"/>
    <dgm:cxn modelId="{E844C413-5C2E-47CA-BEA6-8A45ACFF015B}" type="presParOf" srcId="{4E22CD95-5D5E-4B55-AC1B-6F7AE37554FB}" destId="{16077254-1206-4D27-A335-A3E22082D9F7}" srcOrd="0" destOrd="0" presId="urn:microsoft.com/office/officeart/2005/8/layout/vList2"/>
    <dgm:cxn modelId="{790CED71-38C9-451F-B8F5-A5922BFFB395}" type="presParOf" srcId="{4E22CD95-5D5E-4B55-AC1B-6F7AE37554FB}" destId="{8CBA4D75-0646-4907-9D60-F0BD0BE5B007}" srcOrd="1" destOrd="0" presId="urn:microsoft.com/office/officeart/2005/8/layout/vList2"/>
    <dgm:cxn modelId="{C34F368E-96F4-4F79-B367-02546F301EF5}" type="presParOf" srcId="{4E22CD95-5D5E-4B55-AC1B-6F7AE37554FB}" destId="{710EE733-AF27-42EF-B573-AC4997BA74A5}" srcOrd="2" destOrd="0" presId="urn:microsoft.com/office/officeart/2005/8/layout/vList2"/>
    <dgm:cxn modelId="{A6AD817E-4CA2-4791-8F52-8D472B7690C3}" type="presParOf" srcId="{4E22CD95-5D5E-4B55-AC1B-6F7AE37554FB}" destId="{5D131EEF-A105-4137-8E59-E48BC65C585C}" srcOrd="3" destOrd="0" presId="urn:microsoft.com/office/officeart/2005/8/layout/vList2"/>
    <dgm:cxn modelId="{D7235251-3FAB-447E-BFF4-CB68CFFA69DE}" type="presParOf" srcId="{4E22CD95-5D5E-4B55-AC1B-6F7AE37554FB}" destId="{B51D918B-764A-4120-A504-8534266481E6}" srcOrd="4" destOrd="0" presId="urn:microsoft.com/office/officeart/2005/8/layout/vList2"/>
    <dgm:cxn modelId="{CE379D7F-8089-4839-8E5C-89DC33CF3C23}" type="presParOf" srcId="{4E22CD95-5D5E-4B55-AC1B-6F7AE37554FB}" destId="{3C9E006D-EA9C-45B5-B831-18FAD19FBF60}" srcOrd="5" destOrd="0" presId="urn:microsoft.com/office/officeart/2005/8/layout/vList2"/>
    <dgm:cxn modelId="{BF7748B8-F7E3-4257-A2E7-B61BE5C24CF8}" type="presParOf" srcId="{4E22CD95-5D5E-4B55-AC1B-6F7AE37554FB}" destId="{C8A93F79-35D6-471B-AD29-87A29222328D}" srcOrd="6" destOrd="0" presId="urn:microsoft.com/office/officeart/2005/8/layout/vList2"/>
    <dgm:cxn modelId="{A152AF20-CA82-446E-B620-FAEF18149D61}" type="presParOf" srcId="{4E22CD95-5D5E-4B55-AC1B-6F7AE37554FB}" destId="{49C86983-8646-4F32-91B6-73CF9716910B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B3E15A-79C3-41D3-AFC1-6F0AB8BEC6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46C032-EDB7-4378-A733-6B543F687E2F}">
      <dgm:prSet/>
      <dgm:spPr/>
      <dgm:t>
        <a:bodyPr/>
        <a:lstStyle/>
        <a:p>
          <a:r>
            <a:rPr lang="en-US" b="1"/>
            <a:t>Dataset limitations</a:t>
          </a:r>
          <a:endParaRPr lang="en-US"/>
        </a:p>
      </dgm:t>
    </dgm:pt>
    <dgm:pt modelId="{97744433-DF53-4001-817C-9B814ECB12A5}" type="parTrans" cxnId="{005E7289-5626-4FB3-9A6B-430DACDF6D7A}">
      <dgm:prSet/>
      <dgm:spPr/>
      <dgm:t>
        <a:bodyPr/>
        <a:lstStyle/>
        <a:p>
          <a:endParaRPr lang="en-US"/>
        </a:p>
      </dgm:t>
    </dgm:pt>
    <dgm:pt modelId="{9A37CFEC-FCFE-4C8D-8146-773311ADC765}" type="sibTrans" cxnId="{005E7289-5626-4FB3-9A6B-430DACDF6D7A}">
      <dgm:prSet/>
      <dgm:spPr/>
      <dgm:t>
        <a:bodyPr/>
        <a:lstStyle/>
        <a:p>
          <a:endParaRPr lang="en-US"/>
        </a:p>
      </dgm:t>
    </dgm:pt>
    <dgm:pt modelId="{06104879-00A8-464D-90D8-2FF3E475ECB7}">
      <dgm:prSet/>
      <dgm:spPr/>
      <dgm:t>
        <a:bodyPr/>
        <a:lstStyle/>
        <a:p>
          <a:r>
            <a:rPr lang="en-US"/>
            <a:t>Only ~100 images used (due to cost/time)</a:t>
          </a:r>
        </a:p>
      </dgm:t>
    </dgm:pt>
    <dgm:pt modelId="{2FDD1ABA-A5CC-400E-BAE1-D110DBA42418}" type="parTrans" cxnId="{50A67FC4-EFD7-436B-8962-00A5D25C13D6}">
      <dgm:prSet/>
      <dgm:spPr/>
      <dgm:t>
        <a:bodyPr/>
        <a:lstStyle/>
        <a:p>
          <a:endParaRPr lang="en-US"/>
        </a:p>
      </dgm:t>
    </dgm:pt>
    <dgm:pt modelId="{31E3F6FD-9F85-4138-9131-54B4E5F00873}" type="sibTrans" cxnId="{50A67FC4-EFD7-436B-8962-00A5D25C13D6}">
      <dgm:prSet/>
      <dgm:spPr/>
      <dgm:t>
        <a:bodyPr/>
        <a:lstStyle/>
        <a:p>
          <a:endParaRPr lang="en-US"/>
        </a:p>
      </dgm:t>
    </dgm:pt>
    <dgm:pt modelId="{1BD57957-6A30-4BF2-ACCD-62C55F24035B}">
      <dgm:prSet/>
      <dgm:spPr/>
      <dgm:t>
        <a:bodyPr/>
        <a:lstStyle/>
        <a:p>
          <a:r>
            <a:rPr lang="en-US"/>
            <a:t>Limited model diversity (two GPT models)</a:t>
          </a:r>
        </a:p>
      </dgm:t>
    </dgm:pt>
    <dgm:pt modelId="{15024B90-5B77-48B9-B635-6A0A431B2826}" type="parTrans" cxnId="{85BA2365-A033-4ECE-86A7-9EE7FF975001}">
      <dgm:prSet/>
      <dgm:spPr/>
      <dgm:t>
        <a:bodyPr/>
        <a:lstStyle/>
        <a:p>
          <a:endParaRPr lang="en-US"/>
        </a:p>
      </dgm:t>
    </dgm:pt>
    <dgm:pt modelId="{F073E107-BE28-4488-9029-835AC184401A}" type="sibTrans" cxnId="{85BA2365-A033-4ECE-86A7-9EE7FF975001}">
      <dgm:prSet/>
      <dgm:spPr/>
      <dgm:t>
        <a:bodyPr/>
        <a:lstStyle/>
        <a:p>
          <a:endParaRPr lang="en-US"/>
        </a:p>
      </dgm:t>
    </dgm:pt>
    <dgm:pt modelId="{105C21F2-2CBA-47C7-B32E-EF95DBE3BBB6}">
      <dgm:prSet/>
      <dgm:spPr/>
      <dgm:t>
        <a:bodyPr/>
        <a:lstStyle/>
        <a:p>
          <a:r>
            <a:rPr lang="en-US"/>
            <a:t>Prompt set not exhaustive</a:t>
          </a:r>
        </a:p>
      </dgm:t>
    </dgm:pt>
    <dgm:pt modelId="{2ECE90A8-B4B8-4EE3-8319-E62F372B1F57}" type="parTrans" cxnId="{A1D6D542-F709-4758-818F-830D9DABCA39}">
      <dgm:prSet/>
      <dgm:spPr/>
      <dgm:t>
        <a:bodyPr/>
        <a:lstStyle/>
        <a:p>
          <a:endParaRPr lang="en-US"/>
        </a:p>
      </dgm:t>
    </dgm:pt>
    <dgm:pt modelId="{3453601A-5D23-45C7-91CB-13EEE65C02E5}" type="sibTrans" cxnId="{A1D6D542-F709-4758-818F-830D9DABCA39}">
      <dgm:prSet/>
      <dgm:spPr/>
      <dgm:t>
        <a:bodyPr/>
        <a:lstStyle/>
        <a:p>
          <a:endParaRPr lang="en-US"/>
        </a:p>
      </dgm:t>
    </dgm:pt>
    <dgm:pt modelId="{94B305CA-66A9-470D-B07B-CAA565467BE4}">
      <dgm:prSet/>
      <dgm:spPr/>
      <dgm:t>
        <a:bodyPr/>
        <a:lstStyle/>
        <a:p>
          <a:r>
            <a:rPr lang="en-US" b="1"/>
            <a:t>Metric limitations</a:t>
          </a:r>
          <a:endParaRPr lang="en-US"/>
        </a:p>
      </dgm:t>
    </dgm:pt>
    <dgm:pt modelId="{02713106-7D65-44EC-968B-9752E5D90F21}" type="parTrans" cxnId="{6433CBF7-C333-4FA9-AE26-6CB24D12E509}">
      <dgm:prSet/>
      <dgm:spPr/>
      <dgm:t>
        <a:bodyPr/>
        <a:lstStyle/>
        <a:p>
          <a:endParaRPr lang="en-US"/>
        </a:p>
      </dgm:t>
    </dgm:pt>
    <dgm:pt modelId="{9BCB1F47-7CEF-4F7B-84C8-6F2D2063C4AA}" type="sibTrans" cxnId="{6433CBF7-C333-4FA9-AE26-6CB24D12E509}">
      <dgm:prSet/>
      <dgm:spPr/>
      <dgm:t>
        <a:bodyPr/>
        <a:lstStyle/>
        <a:p>
          <a:endParaRPr lang="en-US"/>
        </a:p>
      </dgm:t>
    </dgm:pt>
    <dgm:pt modelId="{A09BE3EF-74F0-4220-BF35-DD38CD1E7AA0}">
      <dgm:prSet/>
      <dgm:spPr/>
      <dgm:t>
        <a:bodyPr/>
        <a:lstStyle/>
        <a:p>
          <a:r>
            <a:rPr lang="en-US"/>
            <a:t>Only FP-based hallucination</a:t>
          </a:r>
        </a:p>
      </dgm:t>
    </dgm:pt>
    <dgm:pt modelId="{1AFA50B2-4D27-4682-B61A-642CEBB0B6D8}" type="parTrans" cxnId="{6811E6E5-0E35-4965-A76B-97B1FE7B1FAD}">
      <dgm:prSet/>
      <dgm:spPr/>
      <dgm:t>
        <a:bodyPr/>
        <a:lstStyle/>
        <a:p>
          <a:endParaRPr lang="en-US"/>
        </a:p>
      </dgm:t>
    </dgm:pt>
    <dgm:pt modelId="{92462565-6218-49A5-8A97-DD9761F4D513}" type="sibTrans" cxnId="{6811E6E5-0E35-4965-A76B-97B1FE7B1FAD}">
      <dgm:prSet/>
      <dgm:spPr/>
      <dgm:t>
        <a:bodyPr/>
        <a:lstStyle/>
        <a:p>
          <a:endParaRPr lang="en-US"/>
        </a:p>
      </dgm:t>
    </dgm:pt>
    <dgm:pt modelId="{C2F4D497-905B-4B69-8F0C-49536EABBF44}">
      <dgm:prSet/>
      <dgm:spPr/>
      <dgm:t>
        <a:bodyPr/>
        <a:lstStyle/>
        <a:p>
          <a:r>
            <a:rPr lang="en-US"/>
            <a:t>FN (missed detection) not evaluated</a:t>
          </a:r>
        </a:p>
      </dgm:t>
    </dgm:pt>
    <dgm:pt modelId="{D9DD7E26-7FB6-4EA2-A590-CCDC79C2397F}" type="parTrans" cxnId="{FE02ECB1-42C8-438D-9388-B83FD3658F91}">
      <dgm:prSet/>
      <dgm:spPr/>
      <dgm:t>
        <a:bodyPr/>
        <a:lstStyle/>
        <a:p>
          <a:endParaRPr lang="en-US"/>
        </a:p>
      </dgm:t>
    </dgm:pt>
    <dgm:pt modelId="{2F45F945-8395-4092-B222-5D932DF642F8}" type="sibTrans" cxnId="{FE02ECB1-42C8-438D-9388-B83FD3658F91}">
      <dgm:prSet/>
      <dgm:spPr/>
      <dgm:t>
        <a:bodyPr/>
        <a:lstStyle/>
        <a:p>
          <a:endParaRPr lang="en-US"/>
        </a:p>
      </dgm:t>
    </dgm:pt>
    <dgm:pt modelId="{E21BFC57-85E7-4391-AE37-AEECD77CDE46}">
      <dgm:prSet/>
      <dgm:spPr/>
      <dgm:t>
        <a:bodyPr/>
        <a:lstStyle/>
        <a:p>
          <a:r>
            <a:rPr lang="en-US"/>
            <a:t>No confusion matrices (future work)</a:t>
          </a:r>
        </a:p>
      </dgm:t>
    </dgm:pt>
    <dgm:pt modelId="{9B51A709-2D13-429E-AB03-1C97594D467D}" type="parTrans" cxnId="{FFDF17DB-C02D-45EF-A1CF-E3F22645F6CE}">
      <dgm:prSet/>
      <dgm:spPr/>
      <dgm:t>
        <a:bodyPr/>
        <a:lstStyle/>
        <a:p>
          <a:endParaRPr lang="en-US"/>
        </a:p>
      </dgm:t>
    </dgm:pt>
    <dgm:pt modelId="{EDA5437E-4B3F-440D-A02A-D1F6B86BEA28}" type="sibTrans" cxnId="{FFDF17DB-C02D-45EF-A1CF-E3F22645F6CE}">
      <dgm:prSet/>
      <dgm:spPr/>
      <dgm:t>
        <a:bodyPr/>
        <a:lstStyle/>
        <a:p>
          <a:endParaRPr lang="en-US"/>
        </a:p>
      </dgm:t>
    </dgm:pt>
    <dgm:pt modelId="{5676B40D-50F2-4EE6-BD72-811C1C744645}">
      <dgm:prSet/>
      <dgm:spPr/>
      <dgm:t>
        <a:bodyPr/>
        <a:lstStyle/>
        <a:p>
          <a:r>
            <a:rPr lang="en-US" b="1"/>
            <a:t>Coverage limitations</a:t>
          </a:r>
          <a:endParaRPr lang="en-US"/>
        </a:p>
      </dgm:t>
    </dgm:pt>
    <dgm:pt modelId="{2D8B98CC-3A88-4B32-8A62-9467D8E56FCE}" type="parTrans" cxnId="{A6BA6FEF-7B1A-4D8B-8235-2EC7470DCDE0}">
      <dgm:prSet/>
      <dgm:spPr/>
      <dgm:t>
        <a:bodyPr/>
        <a:lstStyle/>
        <a:p>
          <a:endParaRPr lang="en-US"/>
        </a:p>
      </dgm:t>
    </dgm:pt>
    <dgm:pt modelId="{FC46A16C-B769-47AA-B6C5-3E5933B5DCF6}" type="sibTrans" cxnId="{A6BA6FEF-7B1A-4D8B-8235-2EC7470DCDE0}">
      <dgm:prSet/>
      <dgm:spPr/>
      <dgm:t>
        <a:bodyPr/>
        <a:lstStyle/>
        <a:p>
          <a:endParaRPr lang="en-US"/>
        </a:p>
      </dgm:t>
    </dgm:pt>
    <dgm:pt modelId="{17F3A713-3544-46A3-885E-A246B7382A36}">
      <dgm:prSet/>
      <dgm:spPr/>
      <dgm:t>
        <a:bodyPr/>
        <a:lstStyle/>
        <a:p>
          <a:r>
            <a:rPr lang="en-US"/>
            <a:t>Focused on model-level hallucination</a:t>
          </a:r>
        </a:p>
      </dgm:t>
    </dgm:pt>
    <dgm:pt modelId="{129D00D7-3B81-45DA-9BC2-024E872A8594}" type="parTrans" cxnId="{2ACA8510-556B-4FBC-B38D-55E007B9746B}">
      <dgm:prSet/>
      <dgm:spPr/>
      <dgm:t>
        <a:bodyPr/>
        <a:lstStyle/>
        <a:p>
          <a:endParaRPr lang="en-US"/>
        </a:p>
      </dgm:t>
    </dgm:pt>
    <dgm:pt modelId="{84C82BAD-53FD-43F1-B7D0-0E244D87676D}" type="sibTrans" cxnId="{2ACA8510-556B-4FBC-B38D-55E007B9746B}">
      <dgm:prSet/>
      <dgm:spPr/>
      <dgm:t>
        <a:bodyPr/>
        <a:lstStyle/>
        <a:p>
          <a:endParaRPr lang="en-US"/>
        </a:p>
      </dgm:t>
    </dgm:pt>
    <dgm:pt modelId="{9779A60A-DB09-4099-944C-20293960731D}">
      <dgm:prSet/>
      <dgm:spPr/>
      <dgm:t>
        <a:bodyPr/>
        <a:lstStyle/>
        <a:p>
          <a:r>
            <a:rPr lang="en-US"/>
            <a:t>Did not study annotation noise or cross-object correlations</a:t>
          </a:r>
        </a:p>
      </dgm:t>
    </dgm:pt>
    <dgm:pt modelId="{C14FCB48-EA69-49F6-9655-4FB00CB26DE4}" type="parTrans" cxnId="{BEBEB7F7-1D4A-4E6A-A2A7-7974AFBB53C1}">
      <dgm:prSet/>
      <dgm:spPr/>
      <dgm:t>
        <a:bodyPr/>
        <a:lstStyle/>
        <a:p>
          <a:endParaRPr lang="en-US"/>
        </a:p>
      </dgm:t>
    </dgm:pt>
    <dgm:pt modelId="{8B17780A-61FC-4A40-B6BF-2A4DB03C7CCD}" type="sibTrans" cxnId="{BEBEB7F7-1D4A-4E6A-A2A7-7974AFBB53C1}">
      <dgm:prSet/>
      <dgm:spPr/>
      <dgm:t>
        <a:bodyPr/>
        <a:lstStyle/>
        <a:p>
          <a:endParaRPr lang="en-US"/>
        </a:p>
      </dgm:t>
    </dgm:pt>
    <dgm:pt modelId="{39CE3740-6307-4C0E-9371-B605528A1E60}" type="pres">
      <dgm:prSet presAssocID="{F5B3E15A-79C3-41D3-AFC1-6F0AB8BEC6F1}" presName="linear" presStyleCnt="0">
        <dgm:presLayoutVars>
          <dgm:animLvl val="lvl"/>
          <dgm:resizeHandles val="exact"/>
        </dgm:presLayoutVars>
      </dgm:prSet>
      <dgm:spPr/>
    </dgm:pt>
    <dgm:pt modelId="{3348B2DB-5BE4-4192-879A-410E96A5BF94}" type="pres">
      <dgm:prSet presAssocID="{F146C032-EDB7-4378-A733-6B543F687E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2732B1C-C6D1-40CE-9764-C200DA909906}" type="pres">
      <dgm:prSet presAssocID="{F146C032-EDB7-4378-A733-6B543F687E2F}" presName="childText" presStyleLbl="revTx" presStyleIdx="0" presStyleCnt="3">
        <dgm:presLayoutVars>
          <dgm:bulletEnabled val="1"/>
        </dgm:presLayoutVars>
      </dgm:prSet>
      <dgm:spPr/>
    </dgm:pt>
    <dgm:pt modelId="{1E8227F5-A879-4916-B2DA-BFF517633907}" type="pres">
      <dgm:prSet presAssocID="{94B305CA-66A9-470D-B07B-CAA565467B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F12D01-0C4D-4327-AD8C-E9018B3BA4D4}" type="pres">
      <dgm:prSet presAssocID="{94B305CA-66A9-470D-B07B-CAA565467BE4}" presName="childText" presStyleLbl="revTx" presStyleIdx="1" presStyleCnt="3">
        <dgm:presLayoutVars>
          <dgm:bulletEnabled val="1"/>
        </dgm:presLayoutVars>
      </dgm:prSet>
      <dgm:spPr/>
    </dgm:pt>
    <dgm:pt modelId="{3B5647D1-8A66-4A5C-B958-EF8C6556EA2F}" type="pres">
      <dgm:prSet presAssocID="{5676B40D-50F2-4EE6-BD72-811C1C74464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7355A8A-A31F-4E45-8514-D856FEFC12FB}" type="pres">
      <dgm:prSet presAssocID="{5676B40D-50F2-4EE6-BD72-811C1C74464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ACA8510-556B-4FBC-B38D-55E007B9746B}" srcId="{5676B40D-50F2-4EE6-BD72-811C1C744645}" destId="{17F3A713-3544-46A3-885E-A246B7382A36}" srcOrd="0" destOrd="0" parTransId="{129D00D7-3B81-45DA-9BC2-024E872A8594}" sibTransId="{84C82BAD-53FD-43F1-B7D0-0E244D87676D}"/>
    <dgm:cxn modelId="{5D476524-BD7F-4390-BAEE-6CE9554D5925}" type="presOf" srcId="{17F3A713-3544-46A3-885E-A246B7382A36}" destId="{C7355A8A-A31F-4E45-8514-D856FEFC12FB}" srcOrd="0" destOrd="0" presId="urn:microsoft.com/office/officeart/2005/8/layout/vList2"/>
    <dgm:cxn modelId="{B9894829-1E4C-4238-8B59-6AD8548B6695}" type="presOf" srcId="{A09BE3EF-74F0-4220-BF35-DD38CD1E7AA0}" destId="{E2F12D01-0C4D-4327-AD8C-E9018B3BA4D4}" srcOrd="0" destOrd="0" presId="urn:microsoft.com/office/officeart/2005/8/layout/vList2"/>
    <dgm:cxn modelId="{3E33305B-6A7E-4075-B813-ED872C7C0DE7}" type="presOf" srcId="{94B305CA-66A9-470D-B07B-CAA565467BE4}" destId="{1E8227F5-A879-4916-B2DA-BFF517633907}" srcOrd="0" destOrd="0" presId="urn:microsoft.com/office/officeart/2005/8/layout/vList2"/>
    <dgm:cxn modelId="{A1D6D542-F709-4758-818F-830D9DABCA39}" srcId="{F146C032-EDB7-4378-A733-6B543F687E2F}" destId="{105C21F2-2CBA-47C7-B32E-EF95DBE3BBB6}" srcOrd="2" destOrd="0" parTransId="{2ECE90A8-B4B8-4EE3-8319-E62F372B1F57}" sibTransId="{3453601A-5D23-45C7-91CB-13EEE65C02E5}"/>
    <dgm:cxn modelId="{85BA2365-A033-4ECE-86A7-9EE7FF975001}" srcId="{F146C032-EDB7-4378-A733-6B543F687E2F}" destId="{1BD57957-6A30-4BF2-ACCD-62C55F24035B}" srcOrd="1" destOrd="0" parTransId="{15024B90-5B77-48B9-B635-6A0A431B2826}" sibTransId="{F073E107-BE28-4488-9029-835AC184401A}"/>
    <dgm:cxn modelId="{4F2ECB46-7826-4697-B0AD-325EB5DAEFAB}" type="presOf" srcId="{5676B40D-50F2-4EE6-BD72-811C1C744645}" destId="{3B5647D1-8A66-4A5C-B958-EF8C6556EA2F}" srcOrd="0" destOrd="0" presId="urn:microsoft.com/office/officeart/2005/8/layout/vList2"/>
    <dgm:cxn modelId="{10D9E248-099A-4C2F-B84D-8E95FD47BC2A}" type="presOf" srcId="{06104879-00A8-464D-90D8-2FF3E475ECB7}" destId="{D2732B1C-C6D1-40CE-9764-C200DA909906}" srcOrd="0" destOrd="0" presId="urn:microsoft.com/office/officeart/2005/8/layout/vList2"/>
    <dgm:cxn modelId="{C4069B54-53F0-447B-B486-25F1E712C4E0}" type="presOf" srcId="{F146C032-EDB7-4378-A733-6B543F687E2F}" destId="{3348B2DB-5BE4-4192-879A-410E96A5BF94}" srcOrd="0" destOrd="0" presId="urn:microsoft.com/office/officeart/2005/8/layout/vList2"/>
    <dgm:cxn modelId="{17DD9C79-5B90-4B3E-8B93-227CCF3A2865}" type="presOf" srcId="{9779A60A-DB09-4099-944C-20293960731D}" destId="{C7355A8A-A31F-4E45-8514-D856FEFC12FB}" srcOrd="0" destOrd="1" presId="urn:microsoft.com/office/officeart/2005/8/layout/vList2"/>
    <dgm:cxn modelId="{19C6317D-5431-46BE-A515-4DA6F0513F82}" type="presOf" srcId="{F5B3E15A-79C3-41D3-AFC1-6F0AB8BEC6F1}" destId="{39CE3740-6307-4C0E-9371-B605528A1E60}" srcOrd="0" destOrd="0" presId="urn:microsoft.com/office/officeart/2005/8/layout/vList2"/>
    <dgm:cxn modelId="{005E7289-5626-4FB3-9A6B-430DACDF6D7A}" srcId="{F5B3E15A-79C3-41D3-AFC1-6F0AB8BEC6F1}" destId="{F146C032-EDB7-4378-A733-6B543F687E2F}" srcOrd="0" destOrd="0" parTransId="{97744433-DF53-4001-817C-9B814ECB12A5}" sibTransId="{9A37CFEC-FCFE-4C8D-8146-773311ADC765}"/>
    <dgm:cxn modelId="{A1EA26A0-3854-4A34-A4C2-BD306C4D3E52}" type="presOf" srcId="{1BD57957-6A30-4BF2-ACCD-62C55F24035B}" destId="{D2732B1C-C6D1-40CE-9764-C200DA909906}" srcOrd="0" destOrd="1" presId="urn:microsoft.com/office/officeart/2005/8/layout/vList2"/>
    <dgm:cxn modelId="{CA9E85AA-B6C0-4978-AAA5-E8E76F8BB5EB}" type="presOf" srcId="{E21BFC57-85E7-4391-AE37-AEECD77CDE46}" destId="{E2F12D01-0C4D-4327-AD8C-E9018B3BA4D4}" srcOrd="0" destOrd="2" presId="urn:microsoft.com/office/officeart/2005/8/layout/vList2"/>
    <dgm:cxn modelId="{FE02ECB1-42C8-438D-9388-B83FD3658F91}" srcId="{94B305CA-66A9-470D-B07B-CAA565467BE4}" destId="{C2F4D497-905B-4B69-8F0C-49536EABBF44}" srcOrd="1" destOrd="0" parTransId="{D9DD7E26-7FB6-4EA2-A590-CCDC79C2397F}" sibTransId="{2F45F945-8395-4092-B222-5D932DF642F8}"/>
    <dgm:cxn modelId="{5FE6B8B9-6C2B-48FA-AD12-5FF23F377EF8}" type="presOf" srcId="{C2F4D497-905B-4B69-8F0C-49536EABBF44}" destId="{E2F12D01-0C4D-4327-AD8C-E9018B3BA4D4}" srcOrd="0" destOrd="1" presId="urn:microsoft.com/office/officeart/2005/8/layout/vList2"/>
    <dgm:cxn modelId="{50A67FC4-EFD7-436B-8962-00A5D25C13D6}" srcId="{F146C032-EDB7-4378-A733-6B543F687E2F}" destId="{06104879-00A8-464D-90D8-2FF3E475ECB7}" srcOrd="0" destOrd="0" parTransId="{2FDD1ABA-A5CC-400E-BAE1-D110DBA42418}" sibTransId="{31E3F6FD-9F85-4138-9131-54B4E5F00873}"/>
    <dgm:cxn modelId="{FFDF17DB-C02D-45EF-A1CF-E3F22645F6CE}" srcId="{94B305CA-66A9-470D-B07B-CAA565467BE4}" destId="{E21BFC57-85E7-4391-AE37-AEECD77CDE46}" srcOrd="2" destOrd="0" parTransId="{9B51A709-2D13-429E-AB03-1C97594D467D}" sibTransId="{EDA5437E-4B3F-440D-A02A-D1F6B86BEA28}"/>
    <dgm:cxn modelId="{6811E6E5-0E35-4965-A76B-97B1FE7B1FAD}" srcId="{94B305CA-66A9-470D-B07B-CAA565467BE4}" destId="{A09BE3EF-74F0-4220-BF35-DD38CD1E7AA0}" srcOrd="0" destOrd="0" parTransId="{1AFA50B2-4D27-4682-B61A-642CEBB0B6D8}" sibTransId="{92462565-6218-49A5-8A97-DD9761F4D513}"/>
    <dgm:cxn modelId="{1B3D0DED-5C48-4D19-ACC9-E8B6E1DAD080}" type="presOf" srcId="{105C21F2-2CBA-47C7-B32E-EF95DBE3BBB6}" destId="{D2732B1C-C6D1-40CE-9764-C200DA909906}" srcOrd="0" destOrd="2" presId="urn:microsoft.com/office/officeart/2005/8/layout/vList2"/>
    <dgm:cxn modelId="{A6BA6FEF-7B1A-4D8B-8235-2EC7470DCDE0}" srcId="{F5B3E15A-79C3-41D3-AFC1-6F0AB8BEC6F1}" destId="{5676B40D-50F2-4EE6-BD72-811C1C744645}" srcOrd="2" destOrd="0" parTransId="{2D8B98CC-3A88-4B32-8A62-9467D8E56FCE}" sibTransId="{FC46A16C-B769-47AA-B6C5-3E5933B5DCF6}"/>
    <dgm:cxn modelId="{BEBEB7F7-1D4A-4E6A-A2A7-7974AFBB53C1}" srcId="{5676B40D-50F2-4EE6-BD72-811C1C744645}" destId="{9779A60A-DB09-4099-944C-20293960731D}" srcOrd="1" destOrd="0" parTransId="{C14FCB48-EA69-49F6-9655-4FB00CB26DE4}" sibTransId="{8B17780A-61FC-4A40-B6BF-2A4DB03C7CCD}"/>
    <dgm:cxn modelId="{6433CBF7-C333-4FA9-AE26-6CB24D12E509}" srcId="{F5B3E15A-79C3-41D3-AFC1-6F0AB8BEC6F1}" destId="{94B305CA-66A9-470D-B07B-CAA565467BE4}" srcOrd="1" destOrd="0" parTransId="{02713106-7D65-44EC-968B-9752E5D90F21}" sibTransId="{9BCB1F47-7CEF-4F7B-84C8-6F2D2063C4AA}"/>
    <dgm:cxn modelId="{2945E079-1821-4421-8BD9-FFAC51E42653}" type="presParOf" srcId="{39CE3740-6307-4C0E-9371-B605528A1E60}" destId="{3348B2DB-5BE4-4192-879A-410E96A5BF94}" srcOrd="0" destOrd="0" presId="urn:microsoft.com/office/officeart/2005/8/layout/vList2"/>
    <dgm:cxn modelId="{0E664E8E-A4DA-4F04-B7B6-84B6E52C4B6A}" type="presParOf" srcId="{39CE3740-6307-4C0E-9371-B605528A1E60}" destId="{D2732B1C-C6D1-40CE-9764-C200DA909906}" srcOrd="1" destOrd="0" presId="urn:microsoft.com/office/officeart/2005/8/layout/vList2"/>
    <dgm:cxn modelId="{1B56E8FA-A37D-4153-88EB-FEBCC12C44CD}" type="presParOf" srcId="{39CE3740-6307-4C0E-9371-B605528A1E60}" destId="{1E8227F5-A879-4916-B2DA-BFF517633907}" srcOrd="2" destOrd="0" presId="urn:microsoft.com/office/officeart/2005/8/layout/vList2"/>
    <dgm:cxn modelId="{3E0C4F81-7693-45ED-8930-174A96A6A278}" type="presParOf" srcId="{39CE3740-6307-4C0E-9371-B605528A1E60}" destId="{E2F12D01-0C4D-4327-AD8C-E9018B3BA4D4}" srcOrd="3" destOrd="0" presId="urn:microsoft.com/office/officeart/2005/8/layout/vList2"/>
    <dgm:cxn modelId="{747DD925-4592-4788-A768-B6DB7EF8227C}" type="presParOf" srcId="{39CE3740-6307-4C0E-9371-B605528A1E60}" destId="{3B5647D1-8A66-4A5C-B958-EF8C6556EA2F}" srcOrd="4" destOrd="0" presId="urn:microsoft.com/office/officeart/2005/8/layout/vList2"/>
    <dgm:cxn modelId="{A57BBE90-817B-4C41-8981-3BF5B84899B2}" type="presParOf" srcId="{39CE3740-6307-4C0E-9371-B605528A1E60}" destId="{C7355A8A-A31F-4E45-8514-D856FEFC12F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970456-B91E-4312-AEE2-7E4BCB2187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F92F12-8AC9-4F8F-A42B-B167350E4997}">
      <dgm:prSet/>
      <dgm:spPr/>
      <dgm:t>
        <a:bodyPr/>
        <a:lstStyle/>
        <a:p>
          <a:r>
            <a:rPr lang="en-US" b="1"/>
            <a:t>Extending the scalable workflow</a:t>
          </a:r>
          <a:endParaRPr lang="en-US"/>
        </a:p>
      </dgm:t>
    </dgm:pt>
    <dgm:pt modelId="{CE83B89E-1007-41E6-B096-E877FE681775}" type="parTrans" cxnId="{6DE5B51C-C6E7-4482-9149-E20559E284B7}">
      <dgm:prSet/>
      <dgm:spPr/>
      <dgm:t>
        <a:bodyPr/>
        <a:lstStyle/>
        <a:p>
          <a:endParaRPr lang="en-US"/>
        </a:p>
      </dgm:t>
    </dgm:pt>
    <dgm:pt modelId="{DD2A4BE2-C034-4447-A5BE-4DFB61425246}" type="sibTrans" cxnId="{6DE5B51C-C6E7-4482-9149-E20559E284B7}">
      <dgm:prSet/>
      <dgm:spPr/>
      <dgm:t>
        <a:bodyPr/>
        <a:lstStyle/>
        <a:p>
          <a:endParaRPr lang="en-US"/>
        </a:p>
      </dgm:t>
    </dgm:pt>
    <dgm:pt modelId="{921EF4A7-770B-4D68-8903-6FE16EFBD070}">
      <dgm:prSet/>
      <dgm:spPr/>
      <dgm:t>
        <a:bodyPr/>
        <a:lstStyle/>
        <a:p>
          <a:r>
            <a:rPr lang="en-US"/>
            <a:t>The designed pipeline supports:</a:t>
          </a:r>
        </a:p>
      </dgm:t>
    </dgm:pt>
    <dgm:pt modelId="{3EFB8FE8-D43A-4DB6-B769-0511625FBE1F}" type="parTrans" cxnId="{AF1559BD-497B-4EF4-9731-8448324CAF1D}">
      <dgm:prSet/>
      <dgm:spPr/>
      <dgm:t>
        <a:bodyPr/>
        <a:lstStyle/>
        <a:p>
          <a:endParaRPr lang="en-US"/>
        </a:p>
      </dgm:t>
    </dgm:pt>
    <dgm:pt modelId="{F30F1F12-0B41-45C7-A544-36F035E5A76F}" type="sibTrans" cxnId="{AF1559BD-497B-4EF4-9731-8448324CAF1D}">
      <dgm:prSet/>
      <dgm:spPr/>
      <dgm:t>
        <a:bodyPr/>
        <a:lstStyle/>
        <a:p>
          <a:endParaRPr lang="en-US"/>
        </a:p>
      </dgm:t>
    </dgm:pt>
    <dgm:pt modelId="{2806E35B-BAB1-4C5A-8D68-9E0590473981}">
      <dgm:prSet/>
      <dgm:spPr/>
      <dgm:t>
        <a:bodyPr/>
        <a:lstStyle/>
        <a:p>
          <a:r>
            <a:rPr lang="en-US"/>
            <a:t>adding </a:t>
          </a:r>
          <a:r>
            <a:rPr lang="en-US" b="1"/>
            <a:t>more models</a:t>
          </a:r>
          <a:r>
            <a:rPr lang="en-US"/>
            <a:t> (Claude, Gemini, LLaVA, Idefics)</a:t>
          </a:r>
        </a:p>
      </dgm:t>
    </dgm:pt>
    <dgm:pt modelId="{B6C22086-87A0-4F83-97D5-8745662D501D}" type="parTrans" cxnId="{0FFE0636-CD4A-4AA9-9B0D-A1AD57CC7040}">
      <dgm:prSet/>
      <dgm:spPr/>
      <dgm:t>
        <a:bodyPr/>
        <a:lstStyle/>
        <a:p>
          <a:endParaRPr lang="en-US"/>
        </a:p>
      </dgm:t>
    </dgm:pt>
    <dgm:pt modelId="{F2E79D7C-905F-4F98-A0CA-CE0260C62560}" type="sibTrans" cxnId="{0FFE0636-CD4A-4AA9-9B0D-A1AD57CC7040}">
      <dgm:prSet/>
      <dgm:spPr/>
      <dgm:t>
        <a:bodyPr/>
        <a:lstStyle/>
        <a:p>
          <a:endParaRPr lang="en-US"/>
        </a:p>
      </dgm:t>
    </dgm:pt>
    <dgm:pt modelId="{78158EA6-A2FE-4F31-ABC8-2A9FDF496091}">
      <dgm:prSet/>
      <dgm:spPr/>
      <dgm:t>
        <a:bodyPr/>
        <a:lstStyle/>
        <a:p>
          <a:r>
            <a:rPr lang="en-US"/>
            <a:t>adding </a:t>
          </a:r>
          <a:r>
            <a:rPr lang="en-US" b="1"/>
            <a:t>more prompt types</a:t>
          </a:r>
          <a:r>
            <a:rPr lang="en-US"/>
            <a:t> (chain-of-thought suppression, uncertainty prompting)</a:t>
          </a:r>
        </a:p>
      </dgm:t>
    </dgm:pt>
    <dgm:pt modelId="{B295823B-DEFB-499D-9DF4-83A77B617527}" type="parTrans" cxnId="{125F6B7D-BD1E-4BEF-B4CE-26638D3C1FDC}">
      <dgm:prSet/>
      <dgm:spPr/>
      <dgm:t>
        <a:bodyPr/>
        <a:lstStyle/>
        <a:p>
          <a:endParaRPr lang="en-US"/>
        </a:p>
      </dgm:t>
    </dgm:pt>
    <dgm:pt modelId="{43018E4F-E453-4D80-93F2-2F7766069D9E}" type="sibTrans" cxnId="{125F6B7D-BD1E-4BEF-B4CE-26638D3C1FDC}">
      <dgm:prSet/>
      <dgm:spPr/>
      <dgm:t>
        <a:bodyPr/>
        <a:lstStyle/>
        <a:p>
          <a:endParaRPr lang="en-US"/>
        </a:p>
      </dgm:t>
    </dgm:pt>
    <dgm:pt modelId="{8DBBEAD2-ADAB-44BB-A892-932A670D4674}">
      <dgm:prSet/>
      <dgm:spPr/>
      <dgm:t>
        <a:bodyPr/>
        <a:lstStyle/>
        <a:p>
          <a:r>
            <a:rPr lang="en-US"/>
            <a:t>adding </a:t>
          </a:r>
          <a:r>
            <a:rPr lang="en-US" b="1"/>
            <a:t>more objects / more images</a:t>
          </a:r>
          <a:endParaRPr lang="en-US"/>
        </a:p>
      </dgm:t>
    </dgm:pt>
    <dgm:pt modelId="{AED33257-5116-421C-8311-A899ECE6C4FF}" type="parTrans" cxnId="{B5EED888-59BA-4C97-B3FF-FF52208480F0}">
      <dgm:prSet/>
      <dgm:spPr/>
      <dgm:t>
        <a:bodyPr/>
        <a:lstStyle/>
        <a:p>
          <a:endParaRPr lang="en-US"/>
        </a:p>
      </dgm:t>
    </dgm:pt>
    <dgm:pt modelId="{EC9E6950-5DBF-4DB7-A0FB-ADBCC283119A}" type="sibTrans" cxnId="{B5EED888-59BA-4C97-B3FF-FF52208480F0}">
      <dgm:prSet/>
      <dgm:spPr/>
      <dgm:t>
        <a:bodyPr/>
        <a:lstStyle/>
        <a:p>
          <a:endParaRPr lang="en-US"/>
        </a:p>
      </dgm:t>
    </dgm:pt>
    <dgm:pt modelId="{20818028-CEED-442D-8FAA-96EBD2F8312F}">
      <dgm:prSet/>
      <dgm:spPr/>
      <dgm:t>
        <a:bodyPr/>
        <a:lstStyle/>
        <a:p>
          <a:r>
            <a:rPr lang="en-US"/>
            <a:t>evaluating </a:t>
          </a:r>
          <a:r>
            <a:rPr lang="en-US" b="1"/>
            <a:t>FN hallucination</a:t>
          </a:r>
          <a:r>
            <a:rPr lang="en-US"/>
            <a:t> and building confusion matrices</a:t>
          </a:r>
        </a:p>
      </dgm:t>
    </dgm:pt>
    <dgm:pt modelId="{C79E5810-016E-45AF-9DD5-6C260C114141}" type="parTrans" cxnId="{A933727F-7D62-4BDF-9386-E3AF6B1E3356}">
      <dgm:prSet/>
      <dgm:spPr/>
      <dgm:t>
        <a:bodyPr/>
        <a:lstStyle/>
        <a:p>
          <a:endParaRPr lang="en-US"/>
        </a:p>
      </dgm:t>
    </dgm:pt>
    <dgm:pt modelId="{1BCC613F-AB16-4A65-BC62-6F08E9E26E18}" type="sibTrans" cxnId="{A933727F-7D62-4BDF-9386-E3AF6B1E3356}">
      <dgm:prSet/>
      <dgm:spPr/>
      <dgm:t>
        <a:bodyPr/>
        <a:lstStyle/>
        <a:p>
          <a:endParaRPr lang="en-US"/>
        </a:p>
      </dgm:t>
    </dgm:pt>
    <dgm:pt modelId="{3A25E35B-A216-4C59-B6BF-EB5D976F8682}">
      <dgm:prSet/>
      <dgm:spPr/>
      <dgm:t>
        <a:bodyPr/>
        <a:lstStyle/>
        <a:p>
          <a:r>
            <a:rPr lang="en-US"/>
            <a:t>supporting </a:t>
          </a:r>
          <a:r>
            <a:rPr lang="en-US" b="1"/>
            <a:t>caption-level hallucination metrics</a:t>
          </a:r>
          <a:r>
            <a:rPr lang="en-US"/>
            <a:t> (CHAIR) and including more other hallucination metrics </a:t>
          </a:r>
        </a:p>
      </dgm:t>
    </dgm:pt>
    <dgm:pt modelId="{8D79D62E-C6C6-4ECB-B88F-8FA8570D27EE}" type="parTrans" cxnId="{05844108-C52E-4A03-93EA-D24407CD87A6}">
      <dgm:prSet/>
      <dgm:spPr/>
      <dgm:t>
        <a:bodyPr/>
        <a:lstStyle/>
        <a:p>
          <a:endParaRPr lang="en-US"/>
        </a:p>
      </dgm:t>
    </dgm:pt>
    <dgm:pt modelId="{E997937B-99AA-4425-B38D-99A5866D2798}" type="sibTrans" cxnId="{05844108-C52E-4A03-93EA-D24407CD87A6}">
      <dgm:prSet/>
      <dgm:spPr/>
      <dgm:t>
        <a:bodyPr/>
        <a:lstStyle/>
        <a:p>
          <a:endParaRPr lang="en-US"/>
        </a:p>
      </dgm:t>
    </dgm:pt>
    <dgm:pt modelId="{2A329EAC-5344-4ABE-95D5-EC02BF13A341}">
      <dgm:prSet/>
      <dgm:spPr/>
      <dgm:t>
        <a:bodyPr/>
        <a:lstStyle/>
        <a:p>
          <a:r>
            <a:rPr lang="en-US" b="1"/>
            <a:t>Bigger vision</a:t>
          </a:r>
          <a:endParaRPr lang="en-US"/>
        </a:p>
      </dgm:t>
    </dgm:pt>
    <dgm:pt modelId="{B5C5CC0C-C756-476F-81F0-7B31083B399B}" type="parTrans" cxnId="{B12839C3-E497-4B5E-8369-8641D019CC57}">
      <dgm:prSet/>
      <dgm:spPr/>
      <dgm:t>
        <a:bodyPr/>
        <a:lstStyle/>
        <a:p>
          <a:endParaRPr lang="en-US"/>
        </a:p>
      </dgm:t>
    </dgm:pt>
    <dgm:pt modelId="{88D58FB7-F372-472A-AE59-984A0599A4EC}" type="sibTrans" cxnId="{B12839C3-E497-4B5E-8369-8641D019CC57}">
      <dgm:prSet/>
      <dgm:spPr/>
      <dgm:t>
        <a:bodyPr/>
        <a:lstStyle/>
        <a:p>
          <a:endParaRPr lang="en-US"/>
        </a:p>
      </dgm:t>
    </dgm:pt>
    <dgm:pt modelId="{35972EC6-E99D-49BC-A146-9939B24C7459}">
      <dgm:prSet/>
      <dgm:spPr/>
      <dgm:t>
        <a:bodyPr/>
        <a:lstStyle/>
        <a:p>
          <a:r>
            <a:rPr lang="en-US"/>
            <a:t>Turn this into a standardized hallucination benchmark.</a:t>
          </a:r>
        </a:p>
      </dgm:t>
    </dgm:pt>
    <dgm:pt modelId="{A215BE7F-4E70-47F1-B854-F9D47D8CE167}" type="parTrans" cxnId="{541235AE-9866-4FD8-A29C-72AC77125BCA}">
      <dgm:prSet/>
      <dgm:spPr/>
      <dgm:t>
        <a:bodyPr/>
        <a:lstStyle/>
        <a:p>
          <a:endParaRPr lang="en-US"/>
        </a:p>
      </dgm:t>
    </dgm:pt>
    <dgm:pt modelId="{A9D24FF2-281D-4568-87EF-8FF82153FBC7}" type="sibTrans" cxnId="{541235AE-9866-4FD8-A29C-72AC77125BCA}">
      <dgm:prSet/>
      <dgm:spPr/>
      <dgm:t>
        <a:bodyPr/>
        <a:lstStyle/>
        <a:p>
          <a:endParaRPr lang="en-US"/>
        </a:p>
      </dgm:t>
    </dgm:pt>
    <dgm:pt modelId="{96AEA266-5990-4761-9105-F1EA232F5C57}" type="pres">
      <dgm:prSet presAssocID="{81970456-B91E-4312-AEE2-7E4BCB2187A9}" presName="linear" presStyleCnt="0">
        <dgm:presLayoutVars>
          <dgm:animLvl val="lvl"/>
          <dgm:resizeHandles val="exact"/>
        </dgm:presLayoutVars>
      </dgm:prSet>
      <dgm:spPr/>
    </dgm:pt>
    <dgm:pt modelId="{EC989724-01A3-44E0-B645-916600046020}" type="pres">
      <dgm:prSet presAssocID="{C4F92F12-8AC9-4F8F-A42B-B167350E49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7A4924C-7A2F-40A0-A5FF-823AE267A970}" type="pres">
      <dgm:prSet presAssocID="{C4F92F12-8AC9-4F8F-A42B-B167350E4997}" presName="childText" presStyleLbl="revTx" presStyleIdx="0" presStyleCnt="2">
        <dgm:presLayoutVars>
          <dgm:bulletEnabled val="1"/>
        </dgm:presLayoutVars>
      </dgm:prSet>
      <dgm:spPr/>
    </dgm:pt>
    <dgm:pt modelId="{0D813E35-DF04-4121-8ABF-DA973AF07C3C}" type="pres">
      <dgm:prSet presAssocID="{2A329EAC-5344-4ABE-95D5-EC02BF13A34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FC40C54-A1A2-4AAC-BD9E-A893287AD36E}" type="pres">
      <dgm:prSet presAssocID="{2A329EAC-5344-4ABE-95D5-EC02BF13A34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B34D003-744F-4440-91AE-8C0E9BE083EE}" type="presOf" srcId="{81970456-B91E-4312-AEE2-7E4BCB2187A9}" destId="{96AEA266-5990-4761-9105-F1EA232F5C57}" srcOrd="0" destOrd="0" presId="urn:microsoft.com/office/officeart/2005/8/layout/vList2"/>
    <dgm:cxn modelId="{05844108-C52E-4A03-93EA-D24407CD87A6}" srcId="{C4F92F12-8AC9-4F8F-A42B-B167350E4997}" destId="{3A25E35B-A216-4C59-B6BF-EB5D976F8682}" srcOrd="5" destOrd="0" parTransId="{8D79D62E-C6C6-4ECB-B88F-8FA8570D27EE}" sibTransId="{E997937B-99AA-4425-B38D-99A5866D2798}"/>
    <dgm:cxn modelId="{30655C14-1750-4B83-BB0C-44A7337D3C90}" type="presOf" srcId="{3A25E35B-A216-4C59-B6BF-EB5D976F8682}" destId="{17A4924C-7A2F-40A0-A5FF-823AE267A970}" srcOrd="0" destOrd="5" presId="urn:microsoft.com/office/officeart/2005/8/layout/vList2"/>
    <dgm:cxn modelId="{6DE5B51C-C6E7-4482-9149-E20559E284B7}" srcId="{81970456-B91E-4312-AEE2-7E4BCB2187A9}" destId="{C4F92F12-8AC9-4F8F-A42B-B167350E4997}" srcOrd="0" destOrd="0" parTransId="{CE83B89E-1007-41E6-B096-E877FE681775}" sibTransId="{DD2A4BE2-C034-4447-A5BE-4DFB61425246}"/>
    <dgm:cxn modelId="{B6CCEA2A-BF82-4A3A-815A-FB5DF9594215}" type="presOf" srcId="{921EF4A7-770B-4D68-8903-6FE16EFBD070}" destId="{17A4924C-7A2F-40A0-A5FF-823AE267A970}" srcOrd="0" destOrd="0" presId="urn:microsoft.com/office/officeart/2005/8/layout/vList2"/>
    <dgm:cxn modelId="{0FFE0636-CD4A-4AA9-9B0D-A1AD57CC7040}" srcId="{C4F92F12-8AC9-4F8F-A42B-B167350E4997}" destId="{2806E35B-BAB1-4C5A-8D68-9E0590473981}" srcOrd="1" destOrd="0" parTransId="{B6C22086-87A0-4F83-97D5-8745662D501D}" sibTransId="{F2E79D7C-905F-4F98-A0CA-CE0260C62560}"/>
    <dgm:cxn modelId="{B3C4803E-2992-4713-B82E-E9ED2EA80D5C}" type="presOf" srcId="{C4F92F12-8AC9-4F8F-A42B-B167350E4997}" destId="{EC989724-01A3-44E0-B645-916600046020}" srcOrd="0" destOrd="0" presId="urn:microsoft.com/office/officeart/2005/8/layout/vList2"/>
    <dgm:cxn modelId="{810BD85D-7641-499C-99CD-A98542A5758B}" type="presOf" srcId="{2806E35B-BAB1-4C5A-8D68-9E0590473981}" destId="{17A4924C-7A2F-40A0-A5FF-823AE267A970}" srcOrd="0" destOrd="1" presId="urn:microsoft.com/office/officeart/2005/8/layout/vList2"/>
    <dgm:cxn modelId="{4EDC4377-1FE8-4BAF-B697-3790C714A897}" type="presOf" srcId="{8DBBEAD2-ADAB-44BB-A892-932A670D4674}" destId="{17A4924C-7A2F-40A0-A5FF-823AE267A970}" srcOrd="0" destOrd="3" presId="urn:microsoft.com/office/officeart/2005/8/layout/vList2"/>
    <dgm:cxn modelId="{125F6B7D-BD1E-4BEF-B4CE-26638D3C1FDC}" srcId="{C4F92F12-8AC9-4F8F-A42B-B167350E4997}" destId="{78158EA6-A2FE-4F31-ABC8-2A9FDF496091}" srcOrd="2" destOrd="0" parTransId="{B295823B-DEFB-499D-9DF4-83A77B617527}" sibTransId="{43018E4F-E453-4D80-93F2-2F7766069D9E}"/>
    <dgm:cxn modelId="{A933727F-7D62-4BDF-9386-E3AF6B1E3356}" srcId="{C4F92F12-8AC9-4F8F-A42B-B167350E4997}" destId="{20818028-CEED-442D-8FAA-96EBD2F8312F}" srcOrd="4" destOrd="0" parTransId="{C79E5810-016E-45AF-9DD5-6C260C114141}" sibTransId="{1BCC613F-AB16-4A65-BC62-6F08E9E26E18}"/>
    <dgm:cxn modelId="{B5EED888-59BA-4C97-B3FF-FF52208480F0}" srcId="{C4F92F12-8AC9-4F8F-A42B-B167350E4997}" destId="{8DBBEAD2-ADAB-44BB-A892-932A670D4674}" srcOrd="3" destOrd="0" parTransId="{AED33257-5116-421C-8311-A899ECE6C4FF}" sibTransId="{EC9E6950-5DBF-4DB7-A0FB-ADBCC283119A}"/>
    <dgm:cxn modelId="{541235AE-9866-4FD8-A29C-72AC77125BCA}" srcId="{2A329EAC-5344-4ABE-95D5-EC02BF13A341}" destId="{35972EC6-E99D-49BC-A146-9939B24C7459}" srcOrd="0" destOrd="0" parTransId="{A215BE7F-4E70-47F1-B854-F9D47D8CE167}" sibTransId="{A9D24FF2-281D-4568-87EF-8FF82153FBC7}"/>
    <dgm:cxn modelId="{AF1559BD-497B-4EF4-9731-8448324CAF1D}" srcId="{C4F92F12-8AC9-4F8F-A42B-B167350E4997}" destId="{921EF4A7-770B-4D68-8903-6FE16EFBD070}" srcOrd="0" destOrd="0" parTransId="{3EFB8FE8-D43A-4DB6-B769-0511625FBE1F}" sibTransId="{F30F1F12-0B41-45C7-A544-36F035E5A76F}"/>
    <dgm:cxn modelId="{B12839C3-E497-4B5E-8369-8641D019CC57}" srcId="{81970456-B91E-4312-AEE2-7E4BCB2187A9}" destId="{2A329EAC-5344-4ABE-95D5-EC02BF13A341}" srcOrd="1" destOrd="0" parTransId="{B5C5CC0C-C756-476F-81F0-7B31083B399B}" sibTransId="{88D58FB7-F372-472A-AE59-984A0599A4EC}"/>
    <dgm:cxn modelId="{C63425CD-17F4-4CF1-B02D-A9E0BF5DB66B}" type="presOf" srcId="{2A329EAC-5344-4ABE-95D5-EC02BF13A341}" destId="{0D813E35-DF04-4121-8ABF-DA973AF07C3C}" srcOrd="0" destOrd="0" presId="urn:microsoft.com/office/officeart/2005/8/layout/vList2"/>
    <dgm:cxn modelId="{13C0AEDB-9077-434D-AC94-4E5C806D41AA}" type="presOf" srcId="{35972EC6-E99D-49BC-A146-9939B24C7459}" destId="{FFC40C54-A1A2-4AAC-BD9E-A893287AD36E}" srcOrd="0" destOrd="0" presId="urn:microsoft.com/office/officeart/2005/8/layout/vList2"/>
    <dgm:cxn modelId="{25C813E1-B019-49FA-ABE4-52EB1B37B8DD}" type="presOf" srcId="{78158EA6-A2FE-4F31-ABC8-2A9FDF496091}" destId="{17A4924C-7A2F-40A0-A5FF-823AE267A970}" srcOrd="0" destOrd="2" presId="urn:microsoft.com/office/officeart/2005/8/layout/vList2"/>
    <dgm:cxn modelId="{60596EF8-1857-4FDB-937B-1006DAADC6A0}" type="presOf" srcId="{20818028-CEED-442D-8FAA-96EBD2F8312F}" destId="{17A4924C-7A2F-40A0-A5FF-823AE267A970}" srcOrd="0" destOrd="4" presId="urn:microsoft.com/office/officeart/2005/8/layout/vList2"/>
    <dgm:cxn modelId="{CC369931-8397-4CB9-A271-EC3F6B9CAA7B}" type="presParOf" srcId="{96AEA266-5990-4761-9105-F1EA232F5C57}" destId="{EC989724-01A3-44E0-B645-916600046020}" srcOrd="0" destOrd="0" presId="urn:microsoft.com/office/officeart/2005/8/layout/vList2"/>
    <dgm:cxn modelId="{D82E0E5B-47CC-46AF-812F-1BA82967AC52}" type="presParOf" srcId="{96AEA266-5990-4761-9105-F1EA232F5C57}" destId="{17A4924C-7A2F-40A0-A5FF-823AE267A970}" srcOrd="1" destOrd="0" presId="urn:microsoft.com/office/officeart/2005/8/layout/vList2"/>
    <dgm:cxn modelId="{7BCBFE4F-6CA9-46D1-9341-D9B99FEC760D}" type="presParOf" srcId="{96AEA266-5990-4761-9105-F1EA232F5C57}" destId="{0D813E35-DF04-4121-8ABF-DA973AF07C3C}" srcOrd="2" destOrd="0" presId="urn:microsoft.com/office/officeart/2005/8/layout/vList2"/>
    <dgm:cxn modelId="{14F57F44-1B96-483D-AD8D-C6EF75BEE6A1}" type="presParOf" srcId="{96AEA266-5990-4761-9105-F1EA232F5C57}" destId="{FFC40C54-A1A2-4AAC-BD9E-A893287AD36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77254-1206-4D27-A335-A3E22082D9F7}">
      <dsp:nvSpPr>
        <dsp:cNvPr id="0" name=""/>
        <dsp:cNvSpPr/>
      </dsp:nvSpPr>
      <dsp:spPr>
        <a:xfrm>
          <a:off x="0" y="170404"/>
          <a:ext cx="5257797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What is Object Hallucination?</a:t>
          </a:r>
          <a:endParaRPr lang="en-US" sz="1700" kern="1200"/>
        </a:p>
      </dsp:txBody>
      <dsp:txXfrm>
        <a:off x="20390" y="190794"/>
        <a:ext cx="5217017" cy="376910"/>
      </dsp:txXfrm>
    </dsp:sp>
    <dsp:sp modelId="{8CBA4D75-0646-4907-9D60-F0BD0BE5B007}">
      <dsp:nvSpPr>
        <dsp:cNvPr id="0" name=""/>
        <dsp:cNvSpPr/>
      </dsp:nvSpPr>
      <dsp:spPr>
        <a:xfrm>
          <a:off x="0" y="588094"/>
          <a:ext cx="5257797" cy="413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3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A model claims the presence of an object that is </a:t>
          </a:r>
          <a:r>
            <a:rPr lang="en-US" sz="1300" b="1" kern="1200"/>
            <a:t>not present</a:t>
          </a:r>
          <a:r>
            <a:rPr lang="en-US" sz="1300" kern="1200"/>
            <a:t> in the image.</a:t>
          </a:r>
        </a:p>
      </dsp:txBody>
      <dsp:txXfrm>
        <a:off x="0" y="588094"/>
        <a:ext cx="5257797" cy="413482"/>
      </dsp:txXfrm>
    </dsp:sp>
    <dsp:sp modelId="{710EE733-AF27-42EF-B573-AC4997BA74A5}">
      <dsp:nvSpPr>
        <dsp:cNvPr id="0" name=""/>
        <dsp:cNvSpPr/>
      </dsp:nvSpPr>
      <dsp:spPr>
        <a:xfrm>
          <a:off x="0" y="1001577"/>
          <a:ext cx="5257797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Motivation</a:t>
          </a:r>
          <a:endParaRPr lang="en-US" sz="1700" kern="1200"/>
        </a:p>
      </dsp:txBody>
      <dsp:txXfrm>
        <a:off x="20390" y="1021967"/>
        <a:ext cx="5217017" cy="376910"/>
      </dsp:txXfrm>
    </dsp:sp>
    <dsp:sp modelId="{5D131EEF-A105-4137-8E59-E48BC65C585C}">
      <dsp:nvSpPr>
        <dsp:cNvPr id="0" name=""/>
        <dsp:cNvSpPr/>
      </dsp:nvSpPr>
      <dsp:spPr>
        <a:xfrm>
          <a:off x="0" y="1419267"/>
          <a:ext cx="5257797" cy="1302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3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Most prior hallucination studies require </a:t>
          </a:r>
          <a:r>
            <a:rPr lang="en-US" sz="1300" i="1" kern="1200"/>
            <a:t>caption generation + human judgment</a:t>
          </a:r>
          <a:r>
            <a:rPr lang="en-US" sz="1300" kern="1200"/>
            <a:t>.    → Slow, subjective, expensive.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Propose a </a:t>
          </a:r>
          <a:r>
            <a:rPr lang="en-US" sz="1300" b="1" kern="1200"/>
            <a:t>fully automated yes/no probing framework</a:t>
          </a:r>
          <a:r>
            <a:rPr lang="en-US" sz="1300" kern="1200"/>
            <a:t> that: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scales to any number of images, prompts, or models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/>
            <a:t>gives stable, quantitative hallucination metrics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requires zero human labeling during evaluation</a:t>
          </a:r>
        </a:p>
      </dsp:txBody>
      <dsp:txXfrm>
        <a:off x="0" y="1419267"/>
        <a:ext cx="5257797" cy="1302029"/>
      </dsp:txXfrm>
    </dsp:sp>
    <dsp:sp modelId="{B51D918B-764A-4120-A504-8534266481E6}">
      <dsp:nvSpPr>
        <dsp:cNvPr id="0" name=""/>
        <dsp:cNvSpPr/>
      </dsp:nvSpPr>
      <dsp:spPr>
        <a:xfrm>
          <a:off x="0" y="2721297"/>
          <a:ext cx="5257797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Main Idea</a:t>
          </a:r>
          <a:endParaRPr lang="en-US" sz="1700" kern="1200"/>
        </a:p>
      </dsp:txBody>
      <dsp:txXfrm>
        <a:off x="20390" y="2741687"/>
        <a:ext cx="5217017" cy="376910"/>
      </dsp:txXfrm>
    </dsp:sp>
    <dsp:sp modelId="{3C9E006D-EA9C-45B5-B831-18FAD19FBF60}">
      <dsp:nvSpPr>
        <dsp:cNvPr id="0" name=""/>
        <dsp:cNvSpPr/>
      </dsp:nvSpPr>
      <dsp:spPr>
        <a:xfrm>
          <a:off x="0" y="3138987"/>
          <a:ext cx="5257797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3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Use POPE-style </a:t>
          </a:r>
          <a:r>
            <a:rPr lang="en-US" sz="1300" i="1" kern="1200"/>
            <a:t>object presence probing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Apply baseline / misleading / mitigation prompts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Compute hallucination rate automatically</a:t>
          </a:r>
        </a:p>
      </dsp:txBody>
      <dsp:txXfrm>
        <a:off x="0" y="3138987"/>
        <a:ext cx="5257797" cy="686204"/>
      </dsp:txXfrm>
    </dsp:sp>
    <dsp:sp modelId="{C8A93F79-35D6-471B-AD29-87A29222328D}">
      <dsp:nvSpPr>
        <dsp:cNvPr id="0" name=""/>
        <dsp:cNvSpPr/>
      </dsp:nvSpPr>
      <dsp:spPr>
        <a:xfrm>
          <a:off x="0" y="3825192"/>
          <a:ext cx="5257797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Key Result</a:t>
          </a:r>
          <a:endParaRPr lang="en-US" sz="1700" kern="1200"/>
        </a:p>
      </dsp:txBody>
      <dsp:txXfrm>
        <a:off x="20390" y="3845582"/>
        <a:ext cx="5217017" cy="376910"/>
      </dsp:txXfrm>
    </dsp:sp>
    <dsp:sp modelId="{49C86983-8646-4F32-91B6-73CF9716910B}">
      <dsp:nvSpPr>
        <dsp:cNvPr id="0" name=""/>
        <dsp:cNvSpPr/>
      </dsp:nvSpPr>
      <dsp:spPr>
        <a:xfrm>
          <a:off x="0" y="4242882"/>
          <a:ext cx="5257797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3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Misleading prompts ↑ hallucination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Mitigation prompts ↓ hallucination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GPT-5.1 &gt; GPT-4o in robustness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Workflow is extensible for future research</a:t>
          </a:r>
        </a:p>
      </dsp:txBody>
      <dsp:txXfrm>
        <a:off x="0" y="4242882"/>
        <a:ext cx="5257797" cy="897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8B2DB-5BE4-4192-879A-410E96A5BF94}">
      <dsp:nvSpPr>
        <dsp:cNvPr id="0" name=""/>
        <dsp:cNvSpPr/>
      </dsp:nvSpPr>
      <dsp:spPr>
        <a:xfrm>
          <a:off x="0" y="90143"/>
          <a:ext cx="10515600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Dataset limitations</a:t>
          </a:r>
          <a:endParaRPr lang="en-US" sz="2300" kern="1200"/>
        </a:p>
      </dsp:txBody>
      <dsp:txXfrm>
        <a:off x="27586" y="117729"/>
        <a:ext cx="10460428" cy="509938"/>
      </dsp:txXfrm>
    </dsp:sp>
    <dsp:sp modelId="{D2732B1C-C6D1-40CE-9764-C200DA909906}">
      <dsp:nvSpPr>
        <dsp:cNvPr id="0" name=""/>
        <dsp:cNvSpPr/>
      </dsp:nvSpPr>
      <dsp:spPr>
        <a:xfrm>
          <a:off x="0" y="655253"/>
          <a:ext cx="1051560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Only ~100 images used (due to cost/time)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Limited model diversity (two GPT models)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Prompt set not exhaustive</a:t>
          </a:r>
        </a:p>
      </dsp:txBody>
      <dsp:txXfrm>
        <a:off x="0" y="655253"/>
        <a:ext cx="10515600" cy="928395"/>
      </dsp:txXfrm>
    </dsp:sp>
    <dsp:sp modelId="{1E8227F5-A879-4916-B2DA-BFF517633907}">
      <dsp:nvSpPr>
        <dsp:cNvPr id="0" name=""/>
        <dsp:cNvSpPr/>
      </dsp:nvSpPr>
      <dsp:spPr>
        <a:xfrm>
          <a:off x="0" y="1583649"/>
          <a:ext cx="10515600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Metric limitations</a:t>
          </a:r>
          <a:endParaRPr lang="en-US" sz="2300" kern="1200"/>
        </a:p>
      </dsp:txBody>
      <dsp:txXfrm>
        <a:off x="27586" y="1611235"/>
        <a:ext cx="10460428" cy="509938"/>
      </dsp:txXfrm>
    </dsp:sp>
    <dsp:sp modelId="{E2F12D01-0C4D-4327-AD8C-E9018B3BA4D4}">
      <dsp:nvSpPr>
        <dsp:cNvPr id="0" name=""/>
        <dsp:cNvSpPr/>
      </dsp:nvSpPr>
      <dsp:spPr>
        <a:xfrm>
          <a:off x="0" y="2148759"/>
          <a:ext cx="1051560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Only FP-based hallucination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FN (missed detection) not evaluated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No confusion matrices (future work)</a:t>
          </a:r>
        </a:p>
      </dsp:txBody>
      <dsp:txXfrm>
        <a:off x="0" y="2148759"/>
        <a:ext cx="10515600" cy="928395"/>
      </dsp:txXfrm>
    </dsp:sp>
    <dsp:sp modelId="{3B5647D1-8A66-4A5C-B958-EF8C6556EA2F}">
      <dsp:nvSpPr>
        <dsp:cNvPr id="0" name=""/>
        <dsp:cNvSpPr/>
      </dsp:nvSpPr>
      <dsp:spPr>
        <a:xfrm>
          <a:off x="0" y="3077154"/>
          <a:ext cx="10515600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Coverage limitations</a:t>
          </a:r>
          <a:endParaRPr lang="en-US" sz="2300" kern="1200"/>
        </a:p>
      </dsp:txBody>
      <dsp:txXfrm>
        <a:off x="27586" y="3104740"/>
        <a:ext cx="10460428" cy="509938"/>
      </dsp:txXfrm>
    </dsp:sp>
    <dsp:sp modelId="{C7355A8A-A31F-4E45-8514-D856FEFC12FB}">
      <dsp:nvSpPr>
        <dsp:cNvPr id="0" name=""/>
        <dsp:cNvSpPr/>
      </dsp:nvSpPr>
      <dsp:spPr>
        <a:xfrm>
          <a:off x="0" y="3642264"/>
          <a:ext cx="105156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Focused on model-level hallucination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Did not study annotation noise or cross-object correlations</a:t>
          </a:r>
        </a:p>
      </dsp:txBody>
      <dsp:txXfrm>
        <a:off x="0" y="3642264"/>
        <a:ext cx="10515600" cy="618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89724-01A3-44E0-B645-916600046020}">
      <dsp:nvSpPr>
        <dsp:cNvPr id="0" name=""/>
        <dsp:cNvSpPr/>
      </dsp:nvSpPr>
      <dsp:spPr>
        <a:xfrm>
          <a:off x="0" y="59139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Extending the scalable workflow</a:t>
          </a:r>
          <a:endParaRPr lang="en-US" sz="2700" kern="1200"/>
        </a:p>
      </dsp:txBody>
      <dsp:txXfrm>
        <a:off x="32384" y="91523"/>
        <a:ext cx="10450832" cy="598621"/>
      </dsp:txXfrm>
    </dsp:sp>
    <dsp:sp modelId="{17A4924C-7A2F-40A0-A5FF-823AE267A970}">
      <dsp:nvSpPr>
        <dsp:cNvPr id="0" name=""/>
        <dsp:cNvSpPr/>
      </dsp:nvSpPr>
      <dsp:spPr>
        <a:xfrm>
          <a:off x="0" y="722529"/>
          <a:ext cx="10515600" cy="245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The designed pipeline supports: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adding </a:t>
          </a:r>
          <a:r>
            <a:rPr lang="en-US" sz="2100" b="1" kern="1200"/>
            <a:t>more models</a:t>
          </a:r>
          <a:r>
            <a:rPr lang="en-US" sz="2100" kern="1200"/>
            <a:t> (Claude, Gemini, LLaVA, Idefics)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adding </a:t>
          </a:r>
          <a:r>
            <a:rPr lang="en-US" sz="2100" b="1" kern="1200"/>
            <a:t>more prompt types</a:t>
          </a:r>
          <a:r>
            <a:rPr lang="en-US" sz="2100" kern="1200"/>
            <a:t> (chain-of-thought suppression, uncertainty prompting)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adding </a:t>
          </a:r>
          <a:r>
            <a:rPr lang="en-US" sz="2100" b="1" kern="1200"/>
            <a:t>more objects / more images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evaluating </a:t>
          </a:r>
          <a:r>
            <a:rPr lang="en-US" sz="2100" b="1" kern="1200"/>
            <a:t>FN hallucination</a:t>
          </a:r>
          <a:r>
            <a:rPr lang="en-US" sz="2100" kern="1200"/>
            <a:t> and building confusion matrices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supporting </a:t>
          </a:r>
          <a:r>
            <a:rPr lang="en-US" sz="2100" b="1" kern="1200"/>
            <a:t>caption-level hallucination metrics</a:t>
          </a:r>
          <a:r>
            <a:rPr lang="en-US" sz="2100" kern="1200"/>
            <a:t> (CHAIR) and including more other hallucination metrics </a:t>
          </a:r>
        </a:p>
      </dsp:txBody>
      <dsp:txXfrm>
        <a:off x="0" y="722529"/>
        <a:ext cx="10515600" cy="2459159"/>
      </dsp:txXfrm>
    </dsp:sp>
    <dsp:sp modelId="{0D813E35-DF04-4121-8ABF-DA973AF07C3C}">
      <dsp:nvSpPr>
        <dsp:cNvPr id="0" name=""/>
        <dsp:cNvSpPr/>
      </dsp:nvSpPr>
      <dsp:spPr>
        <a:xfrm>
          <a:off x="0" y="3181688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Bigger vision</a:t>
          </a:r>
          <a:endParaRPr lang="en-US" sz="2700" kern="1200"/>
        </a:p>
      </dsp:txBody>
      <dsp:txXfrm>
        <a:off x="32384" y="3214072"/>
        <a:ext cx="10450832" cy="598621"/>
      </dsp:txXfrm>
    </dsp:sp>
    <dsp:sp modelId="{FFC40C54-A1A2-4AAC-BD9E-A893287AD36E}">
      <dsp:nvSpPr>
        <dsp:cNvPr id="0" name=""/>
        <dsp:cNvSpPr/>
      </dsp:nvSpPr>
      <dsp:spPr>
        <a:xfrm>
          <a:off x="0" y="3845079"/>
          <a:ext cx="10515600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Turn this into a standardized hallucination benchmark.</a:t>
          </a:r>
        </a:p>
      </dsp:txBody>
      <dsp:txXfrm>
        <a:off x="0" y="3845079"/>
        <a:ext cx="10515600" cy="447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617A-BAE1-D5F7-AC14-921841F6E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E7D27-0C94-F060-E387-C53437008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EB152-AEFF-7611-7F0A-1B9BF6E5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38521-1D75-E420-049B-EBD9C7487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33765-F603-2207-A2C1-1E8B67FE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9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7459-1ED6-1969-BB4A-F01AAA29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9E44E-D16C-08E3-A529-A5F36C102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450A-3881-B342-56A7-621A2EEAD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80890-512E-2E64-CF96-DE8F6781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8D2BB-C2D2-445F-341B-35B2686C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7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05D9-6959-A965-DF39-6056A14D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9454-F66F-5E8B-052A-5BD64FDEC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57EE4-10A1-15B3-E94E-679A9583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13591-2127-F78B-09E5-256076ED4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32EF8-A771-3DC1-88A2-9E7A3238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6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8DA7-7C8C-9274-D9EF-72E58F8E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D9F0C-CA17-9EEB-C18F-0D4E722DA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C6035-F961-BE68-6CF1-65464FD72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5C760-0443-C3B1-A7CA-103D6E10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48729-0307-5C14-3D30-FA224FD6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6AB00-E8E2-F1DD-BCB6-C8C9A7D3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36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03F2-5C55-6566-2280-F0419198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17AD1-9A03-4846-0F62-BA8F07A51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CF1E2-E49F-A214-46BC-0C768568F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E5137D-4A1C-CE10-B957-1D4F0B5DE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DA0740-B7D9-A8BC-6CA3-01B0F5871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FA0944-EB88-BB67-7E13-7BD3D4DD2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6089F-F99A-19E1-3030-DBC362B2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BC502-4D47-F093-9BF5-545130A6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9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8C9F-2985-354A-ACCF-855123F3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0294C-E82B-1152-BFDE-907EAE50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48C43-8FE3-ACE5-4825-47AFF510E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6E428-2796-AE59-EC14-2538858A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2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36542-29DF-2B86-0A71-9CD3D143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C4145-4F62-FD18-BD90-4AF0EB32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8E4A9-5DAB-ACDB-ED6E-5A9FE392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0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2D45-CDE3-7E3D-9DAB-FF2BA335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B2AC2-1A44-6A9B-8947-57CC04A0B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522A4-314B-966E-0430-6B30D38C1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26C32-5F6C-B883-A07F-06BDC9366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4AD01-1EF6-7E55-DFDF-801BBAE5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31E53-1FBE-EF14-5F00-551238D9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7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EAF9-657E-7DE2-E227-04E912E31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C316A-18BA-6FCB-3F23-7B22E44FF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1267A-85C8-CFC6-D144-FE42CA8E1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544DF-59B1-A3C3-D790-F146769F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093F9-B291-1252-E6D7-AD2BE5C27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F515E-A1AE-40B7-2455-FE980171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2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9DAD8-35DA-D35F-3D2F-9F03AB7F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90DE3-4D9A-BC0E-836B-8B1FD8B50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695A7-1C1D-EDD1-F4B0-06002F25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34A82-C64C-59FB-71C7-04FBAAEFA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708CD-BA32-DBAB-2233-D3221069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7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2E5B4-6FAE-8082-C06B-690DD7CB4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34B9D-941A-2CFD-C7B4-DAF809EBE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32CEB-6E8B-37EB-0545-AFF787F0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D4066-3068-463B-0EFA-45CFD2371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EDCEF-F364-F783-DEE5-5AD3C167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3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DC6E9-2D57-0994-99AE-464722C38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A059E-4D66-3E5D-E67E-E760859DD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B7F03-D31F-DEC4-E80D-2C690D72E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55FFB-A315-4598-9F8B-B11E2BC34CF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B48DC-0263-F7FB-21CB-8EE19FD27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EAB60-ADA7-6FF8-7D9A-D11B3054F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03507-6316-4FBE-8A4D-88C4C3F29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8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5.1035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BVE6niUrPw" TargetMode="External"/><Relationship Id="rId2" Type="http://schemas.openxmlformats.org/officeDocument/2006/relationships/hyperlink" Target="https://github.com/xxiao053/MRP--Mini-Research-Proble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A1E27-2E12-D303-67F9-B15753285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A Scalable Workflow for Evaluating Object Hallucination in Multimodal LLMs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1F5AF-EB46-9446-DE5D-C0694B7ED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X</a:t>
            </a:r>
            <a:r>
              <a:rPr lang="en-US" altLang="zh-CN" sz="1700">
                <a:solidFill>
                  <a:srgbClr val="FFFFFF"/>
                </a:solidFill>
              </a:rPr>
              <a:t>iao Xiao</a:t>
            </a:r>
          </a:p>
          <a:p>
            <a:pPr algn="l"/>
            <a:r>
              <a:rPr lang="en-US" sz="1700">
                <a:solidFill>
                  <a:srgbClr val="FFFFFF"/>
                </a:solidFill>
              </a:rPr>
              <a:t>MSCS2201-2: Artificial Intelligence</a:t>
            </a:r>
          </a:p>
          <a:p>
            <a:pPr algn="l"/>
            <a:r>
              <a:rPr lang="en-US" sz="1700">
                <a:solidFill>
                  <a:srgbClr val="FFFFFF"/>
                </a:solidFill>
              </a:rPr>
              <a:t>Mini Research Project</a:t>
            </a:r>
          </a:p>
        </p:txBody>
      </p:sp>
    </p:spTree>
    <p:extLst>
      <p:ext uri="{BB962C8B-B14F-4D97-AF65-F5344CB8AC3E}">
        <p14:creationId xmlns:p14="http://schemas.microsoft.com/office/powerpoint/2010/main" val="328716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718276" y="729523"/>
            <a:ext cx="6858000" cy="5398953"/>
          </a:xfrm>
          <a:prstGeom prst="rect">
            <a:avLst/>
          </a:prstGeom>
          <a:ln>
            <a:noFill/>
          </a:ln>
          <a:effectLst>
            <a:outerShdw blurRad="419100" dist="1524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156E8-243D-C17D-87BB-31F853E6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85366"/>
            <a:ext cx="4069055" cy="2072853"/>
          </a:xfrm>
        </p:spPr>
        <p:txBody>
          <a:bodyPr anchor="t">
            <a:normAutofit/>
          </a:bodyPr>
          <a:lstStyle/>
          <a:p>
            <a:r>
              <a:rPr lang="en-US" sz="4000"/>
              <a:t>TL;DR</a:t>
            </a:r>
          </a:p>
        </p:txBody>
      </p:sp>
      <p:pic>
        <p:nvPicPr>
          <p:cNvPr id="21" name="Picture 20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83E88A6D-6366-AB43-22E9-86442FD39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19" y="3577112"/>
            <a:ext cx="3951289" cy="2370773"/>
          </a:xfrm>
          <a:prstGeom prst="rect">
            <a:avLst/>
          </a:prstGeom>
        </p:spPr>
      </p:pic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BC76642A-3895-5432-1FB4-E1B054A29A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667650"/>
              </p:ext>
            </p:extLst>
          </p:nvPr>
        </p:nvGraphicFramePr>
        <p:xfrm>
          <a:off x="6096000" y="785366"/>
          <a:ext cx="5257797" cy="5310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003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27C9C-2C86-3E20-DCE6-D7F52141F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Literature Review - 1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DE91298-E3F9-F93E-B3EA-B2D9A7CBA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626"/>
            <a:ext cx="5158427" cy="37304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 b="1"/>
              <a:t>Caption-based Evaluation: CHAIR</a:t>
            </a:r>
          </a:p>
          <a:p>
            <a:pPr lvl="1"/>
            <a:r>
              <a:rPr lang="en-US" sz="1300"/>
              <a:t>CHAIR: Caption Hallucination Assessment with Image Relevance</a:t>
            </a:r>
          </a:p>
          <a:p>
            <a:pPr lvl="1"/>
            <a:r>
              <a:rPr lang="en-US" sz="1300"/>
              <a:t>Model generates caption</a:t>
            </a:r>
          </a:p>
          <a:p>
            <a:pPr lvl="1"/>
            <a:r>
              <a:rPr lang="en-US" sz="1300"/>
              <a:t>Post-processing checks hallucinated objects</a:t>
            </a:r>
          </a:p>
          <a:p>
            <a:pPr lvl="1"/>
            <a:r>
              <a:rPr lang="en-US" sz="1300"/>
              <a:t>Pros: rich semantics</a:t>
            </a:r>
          </a:p>
          <a:p>
            <a:pPr lvl="1"/>
            <a:r>
              <a:rPr lang="en-US" sz="1300"/>
              <a:t>Cons: </a:t>
            </a:r>
            <a:r>
              <a:rPr lang="en-US" sz="1300" b="1"/>
              <a:t>slow, expensive, not scalable, subjective</a:t>
            </a:r>
          </a:p>
          <a:p>
            <a:pPr lvl="1"/>
            <a:endParaRPr lang="en-US" sz="1300"/>
          </a:p>
          <a:p>
            <a:r>
              <a:rPr lang="en-US" sz="1300" b="1"/>
              <a:t>Probing-based Evaluation: POPE</a:t>
            </a:r>
          </a:p>
          <a:p>
            <a:pPr lvl="1"/>
            <a:r>
              <a:rPr lang="en-US" sz="1300"/>
              <a:t>Polling-based Object Probing Evaluation</a:t>
            </a:r>
          </a:p>
          <a:p>
            <a:pPr lvl="1"/>
            <a:r>
              <a:rPr lang="en-US" sz="1300"/>
              <a:t>Ask: “Is there a </a:t>
            </a:r>
            <a:r>
              <a:rPr lang="en-US" sz="1300" i="1"/>
              <a:t>&lt;object&gt;</a:t>
            </a:r>
            <a:r>
              <a:rPr lang="en-US" sz="1300"/>
              <a:t> in the image?”</a:t>
            </a:r>
          </a:p>
          <a:p>
            <a:pPr lvl="1"/>
            <a:r>
              <a:rPr lang="en-US" sz="1300"/>
              <a:t>Model answers yes/no</a:t>
            </a:r>
          </a:p>
          <a:p>
            <a:pPr lvl="1"/>
            <a:r>
              <a:rPr lang="en-US" sz="1300"/>
              <a:t>Fully automatable</a:t>
            </a:r>
          </a:p>
          <a:p>
            <a:pPr lvl="1"/>
            <a:r>
              <a:rPr lang="en-US" sz="1300"/>
              <a:t>Stable metric: hallucination = FP rate</a:t>
            </a:r>
          </a:p>
          <a:p>
            <a:pPr lvl="1"/>
            <a:r>
              <a:rPr lang="en-US" sz="1300" b="1"/>
              <a:t>This is the paradigm used in the study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2B5A261-EF97-814C-EAE1-CE355C551F7D}"/>
              </a:ext>
            </a:extLst>
          </p:cNvPr>
          <p:cNvSpPr txBox="1">
            <a:spLocks/>
          </p:cNvSpPr>
          <p:nvPr/>
        </p:nvSpPr>
        <p:spPr>
          <a:xfrm>
            <a:off x="6189154" y="2398626"/>
            <a:ext cx="5164645" cy="373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Prompt-based hallucination control</a:t>
            </a:r>
          </a:p>
          <a:p>
            <a:pPr lvl="1"/>
            <a:r>
              <a:rPr lang="en-US" sz="1400" b="1"/>
              <a:t>Hallucination Induction (misleading strategy)</a:t>
            </a:r>
            <a:br>
              <a:rPr lang="en-US" sz="1400"/>
            </a:br>
            <a:r>
              <a:rPr lang="en-US" sz="1400"/>
              <a:t>Misleading prompts add prior bias → increases hallucination.</a:t>
            </a:r>
          </a:p>
          <a:p>
            <a:pPr lvl="1"/>
            <a:r>
              <a:rPr lang="en-US" sz="1400" b="1"/>
              <a:t>Hallucination Mitigation (mitigation strategy)</a:t>
            </a:r>
            <a:br>
              <a:rPr lang="en-US" sz="1400"/>
            </a:br>
            <a:r>
              <a:rPr lang="en-US" sz="1400"/>
              <a:t>Hard constraints → e.g., “Do not guess”, “Answer only if visually obvious”.</a:t>
            </a:r>
          </a:p>
          <a:p>
            <a:pPr lvl="1"/>
            <a:endParaRPr lang="en-US" sz="1400"/>
          </a:p>
          <a:p>
            <a:r>
              <a:rPr lang="en-US" sz="1400" b="1"/>
              <a:t>Contribution</a:t>
            </a:r>
          </a:p>
          <a:p>
            <a:pPr lvl="1"/>
            <a:r>
              <a:rPr lang="en-US" sz="1400"/>
              <a:t>Implement a fully automated POPE-style evaluation pipeline</a:t>
            </a:r>
          </a:p>
          <a:p>
            <a:pPr lvl="1"/>
            <a:r>
              <a:rPr lang="en-US" sz="1400"/>
              <a:t>Add programmable </a:t>
            </a:r>
            <a:r>
              <a:rPr lang="en-US" sz="1400" i="1"/>
              <a:t>prompt manipulations</a:t>
            </a:r>
            <a:r>
              <a:rPr lang="en-US" sz="1400"/>
              <a:t> for controlled hallucination testing</a:t>
            </a:r>
          </a:p>
          <a:p>
            <a:pPr lvl="1"/>
            <a:r>
              <a:rPr lang="en-US" sz="1400"/>
              <a:t>Provide a generalizable workflow for future studies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47213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4AF7E-0F1E-2F2B-E6B6-96FA3D70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EDC38-43F5-428D-7956-E3134840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 dirty="0"/>
              <a:t>Literature Review - 2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7D781E-869D-9911-1964-156813ECE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000" b="1"/>
              <a:t>Key papers</a:t>
            </a:r>
          </a:p>
          <a:p>
            <a:pPr lvl="1"/>
            <a:r>
              <a:rPr lang="en-US" sz="2000"/>
              <a:t>Evaluating Object Hallucination in Large Vision-Language Models (Yifan Li et al., 2023)</a:t>
            </a:r>
          </a:p>
          <a:p>
            <a:pPr lvl="1"/>
            <a:r>
              <a:rPr lang="en-US" sz="2000"/>
              <a:t>Evaluating and Mitigating Object Hallucination in Large Vision-Language Models: Can They Still See Removed Objects? (Yixiao He et al., 2024)</a:t>
            </a:r>
          </a:p>
          <a:p>
            <a:pPr lvl="1"/>
            <a:r>
              <a:rPr lang="en-US" sz="2000"/>
              <a:t>Multi-Object Hallucination in Vision-Language Models (Xuweiyi Chen et al., 2024)</a:t>
            </a:r>
          </a:p>
          <a:p>
            <a:pPr lvl="1"/>
            <a:r>
              <a:rPr lang="en-US" sz="2000"/>
              <a:t>SELFCHECKGPT: Zero-Resource Black-Box Hallucination Detection for Generative Large Language Models (Potsawee Manakul)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33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5064D-CCB7-63C5-3AD7-C004A03ED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Dataset + Ground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939C4-0ED9-A4D3-31DE-7B3925B03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1700" b="1"/>
              <a:t>Dataset</a:t>
            </a:r>
          </a:p>
          <a:p>
            <a:pPr lvl="1"/>
            <a:r>
              <a:rPr lang="en-US" sz="1700"/>
              <a:t>200 images, 10 categories (20 images each). – from MS COCO dataset</a:t>
            </a:r>
          </a:p>
          <a:p>
            <a:pPr lvl="1"/>
            <a:r>
              <a:rPr lang="en-US" sz="1700"/>
              <a:t>Real-world scenes with multiple objects and occlusions.</a:t>
            </a:r>
          </a:p>
          <a:p>
            <a:pPr lvl="1"/>
            <a:endParaRPr lang="en-US" sz="1700"/>
          </a:p>
          <a:p>
            <a:r>
              <a:rPr lang="en-US" sz="1700" b="1"/>
              <a:t>Ground Truth</a:t>
            </a:r>
          </a:p>
          <a:p>
            <a:pPr lvl="1"/>
            <a:r>
              <a:rPr lang="en-US" sz="1700"/>
              <a:t>For each image:</a:t>
            </a:r>
          </a:p>
          <a:p>
            <a:pPr lvl="2"/>
            <a:r>
              <a:rPr lang="en-US" sz="1700"/>
              <a:t>yes: objects present</a:t>
            </a:r>
          </a:p>
          <a:p>
            <a:pPr lvl="2"/>
            <a:r>
              <a:rPr lang="en-US" sz="1700"/>
              <a:t>no: objects absent</a:t>
            </a:r>
          </a:p>
          <a:p>
            <a:pPr lvl="1"/>
            <a:r>
              <a:rPr lang="en-US" sz="1700"/>
              <a:t>Used for False Positive (hallucination) detection.</a:t>
            </a:r>
          </a:p>
          <a:p>
            <a:endParaRPr lang="en-US" sz="1700"/>
          </a:p>
          <a:p>
            <a:endParaRPr lang="en-US" sz="17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162702-4613-5A20-D1EA-8BFEA2AEF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339934"/>
              </p:ext>
            </p:extLst>
          </p:nvPr>
        </p:nvGraphicFramePr>
        <p:xfrm>
          <a:off x="6512442" y="660499"/>
          <a:ext cx="5201025" cy="5123250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970977">
                  <a:extLst>
                    <a:ext uri="{9D8B030D-6E8A-4147-A177-3AD203B41FA5}">
                      <a16:colId xmlns:a16="http://schemas.microsoft.com/office/drawing/2014/main" val="1409923114"/>
                    </a:ext>
                  </a:extLst>
                </a:gridCol>
                <a:gridCol w="408263">
                  <a:extLst>
                    <a:ext uri="{9D8B030D-6E8A-4147-A177-3AD203B41FA5}">
                      <a16:colId xmlns:a16="http://schemas.microsoft.com/office/drawing/2014/main" val="2161926449"/>
                    </a:ext>
                  </a:extLst>
                </a:gridCol>
                <a:gridCol w="1940299">
                  <a:extLst>
                    <a:ext uri="{9D8B030D-6E8A-4147-A177-3AD203B41FA5}">
                      <a16:colId xmlns:a16="http://schemas.microsoft.com/office/drawing/2014/main" val="1831683488"/>
                    </a:ext>
                  </a:extLst>
                </a:gridCol>
                <a:gridCol w="1881486">
                  <a:extLst>
                    <a:ext uri="{9D8B030D-6E8A-4147-A177-3AD203B41FA5}">
                      <a16:colId xmlns:a16="http://schemas.microsoft.com/office/drawing/2014/main" val="761225859"/>
                    </a:ext>
                  </a:extLst>
                </a:gridCol>
              </a:tblGrid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filename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foldername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11027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102083378_5825091b98_z.jpg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['bag', 'bed', 'bicycle', 'blanket', 'clothes', 'pillow']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'bus', 'car', 'dog', 'person', 'road',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82177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1162747961_86300f56c8_z.jpg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'car', 'cup', 'hot dogs', 'plate', 'table']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'bus', 'dog', 'person', 'road',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917440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149290990_06565d6a15_z.jpg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'building', 'helmet', 'person', 'road',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'bus', 'car', 'dog', 'street sign', 'traffic light']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072388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2718100724_ec6bfa1649_z.jpg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['apron', 'banner', 'bicycle', 'bike', 'blender', 'hat', 'person']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'bus', 'car', 'dog', 'road',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120818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2970519630_f88800a2cc_z.jpg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'bicycle', 'leaves', 'person', 'picnic table', 'tree', 'tricycle']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['building', 'bus', 'car', 'dog', 'road', 'street sign', 'traffic light']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49764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3784033247_7f30f9904d_z.jpg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'motorbike', 'person', 'rickshaw', 'shop', 'stall', 'tent',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'bus', 'car', 'dog', 'road', 'street sign', 'traffic light']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792142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4079494232_5b07fbc53b_z.jpg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'building', 'crosswalk', 'person', 'road', 'sign']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'bus', 'car', 'dog',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284081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6220015159_ee71fef9d1_z.jpg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'bicycle', 'building', 'car', 'person', 'road', 'sign', 'street sign', 'streetlight',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['bus', 'dog']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666468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6275412942_f8dc734c3f_z.jpg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'cup', 'dog', 'person', 'road', 'skateboard']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'bus', 'car',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59672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6340233030_bbac0a0f54_z.jpg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'bike', 'chalk', 'person', 'sign', 'stroller']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'bus', 'car', 'dog', 'road',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79494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7004183781_b24c5bd8eb_z.jpg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'car', 'motorcycle', 'person', 'road']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'bus', 'dog',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103532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7192018366_bc2e2c5579_z.jpg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'building', 'person', 'road',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'bus', 'car', 'dog', 'street sign', 'traffic light']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241501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7259727794_f171c5c7bb_z.jpg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'bridge', 'building', 'car', 'person', 'pole', 'sign', 'traffic light']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'bus', 'dog', 'road', 'street sign',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987071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767098787_6aec439f5e_z.jpg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'boat', 'building', 'horse', 'person', 'stadium', 'water']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'bus', 'car', 'dog', 'road',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066119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7911028734_6af094b680_z.jpg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'gloves', 'helmet', 'person']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'bus', 'car', 'dog', 'road',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74267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9048290995_b028f2366f_z.jpg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'luggage', 'platform', 'train']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'bus', 'car', 'dog', 'person', 'road',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89890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9232183203_859067da50_z.jpg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['bag', 'bicycle', 'building', 'car', 'person', 'phone', 'road']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'bus', 'dog',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619056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9388089042_74b163bfd6_z.jpg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'building', 'car', 'flag', 'person', 'plant', 'road', 'taxi', 'umbrella']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'bus', 'dog',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72819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9471603216_170c539200_z.jpg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'building', 'light', 'motorcycle', 'person', 'road', 'street']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'bus', 'car', 'dog',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614995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97613669_0f9e2fc256_z.jpg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bicycle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['bicycle', 'bus', 'hill', 'motorcycle', 'person', 'power line', 'road']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'building', 'car', 'dog', 'street sign', 'traffic light',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746353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1177838138_334e5afb60_z.jpg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bird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['bird', 'flower', 'leaf']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['branch', 'cloud', 'grass', 'insect', 'nest', 'sky', 'tree', 'water']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645171"/>
                  </a:ext>
                </a:extLst>
              </a:tr>
              <a:tr h="2551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2293881652_e20c93cabc_z.jpg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bird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['bird']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['branch', 'cloud', 'flower', 'grass', 'insect', 'leaf', 'nest', 'sky', 'tree', 'water']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57813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2586025667_fde2f83ddd_z.jpg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bird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['bird', 'grass', 'ostrich', 'sky', 'zebra']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['branch', 'cloud', 'flower', 'insect', 'leaf', 'nest', 'tree', 'water']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559077"/>
                  </a:ext>
                </a:extLst>
              </a:tr>
              <a:tr h="171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2778832101_0d63f093bd_z.jpg</a:t>
                      </a:r>
                    </a:p>
                  </a:txBody>
                  <a:tcPr marL="29276" marR="552" marT="8364" marB="62734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bird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['bench', 'bird', 'bollard', 'building', 'car', 'person', 'pigeon', 'tree']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['branch', 'cloud', 'flower', 'grass', 'insect', 'leaf', 'nest', 'sky', 'water']</a:t>
                      </a:r>
                    </a:p>
                  </a:txBody>
                  <a:tcPr marL="29276" marR="552" marT="8364" marB="6273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568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19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Slide Background">
            <a:extLst>
              <a:ext uri="{FF2B5EF4-FFF2-40B4-BE49-F238E27FC236}">
                <a16:creationId xmlns:a16="http://schemas.microsoft.com/office/drawing/2014/main" id="{90D0877E-6CD0-4206-8A18-56CEE73E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2806021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261380-8B80-51B5-BBE2-115F782F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42306"/>
            <a:ext cx="4703816" cy="2121408"/>
          </a:xfrm>
        </p:spPr>
        <p:txBody>
          <a:bodyPr anchor="ctr">
            <a:normAutofit/>
          </a:bodyPr>
          <a:lstStyle/>
          <a:p>
            <a:r>
              <a:rPr lang="en-US" sz="4000"/>
              <a:t>Workflow Overview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D147069-452F-1831-76D1-5D73E79CE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342307"/>
            <a:ext cx="5250873" cy="21214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Scalable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dd models, prompts, images easily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Automatic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Zero manual labeling during evaluation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Produces plots automatically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26CC38A-0D90-72AB-217F-108848EDE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8063" y="3190069"/>
            <a:ext cx="9615480" cy="307695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07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D7CE0-B784-62CE-F575-335390E2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57" y="586855"/>
            <a:ext cx="403783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Prompt Design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(Approach: </a:t>
            </a:r>
            <a:r>
              <a:rPr lang="en-US" sz="4000" dirty="0">
                <a:solidFill>
                  <a:srgbClr val="FFFFFF"/>
                </a:solidFill>
                <a:hlinkClick r:id="rId2"/>
              </a:rPr>
              <a:t>POPE</a:t>
            </a:r>
            <a:r>
              <a:rPr lang="en-US" sz="400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8C721-2328-F56F-81B1-A14F971C8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870590"/>
          </a:xfrm>
        </p:spPr>
        <p:txBody>
          <a:bodyPr anchor="ctr">
            <a:normAutofit/>
          </a:bodyPr>
          <a:lstStyle/>
          <a:p>
            <a:r>
              <a:rPr lang="en-US" sz="1300" dirty="0"/>
              <a:t>Baseline Prompt (neutral, response only Yes/No)</a:t>
            </a:r>
          </a:p>
          <a:p>
            <a:pPr lvl="1"/>
            <a:r>
              <a:rPr lang="en-US" sz="1300" dirty="0"/>
              <a:t>You are an image recognition system. I will give you an image and ask whether a specific object is present.</a:t>
            </a:r>
          </a:p>
          <a:p>
            <a:pPr lvl="1"/>
            <a:r>
              <a:rPr lang="en-US" sz="1300" dirty="0"/>
              <a:t>You must answer strictly with only one word: "yes" or "no". No explanation.</a:t>
            </a:r>
          </a:p>
          <a:p>
            <a:pPr lvl="1"/>
            <a:r>
              <a:rPr lang="en-US" sz="1300" dirty="0"/>
              <a:t>Object to check: "&lt;object&gt;"</a:t>
            </a:r>
          </a:p>
          <a:p>
            <a:pPr lvl="1"/>
            <a:r>
              <a:rPr lang="en-US" sz="1300" dirty="0"/>
              <a:t>Does this image contain this object?</a:t>
            </a:r>
          </a:p>
          <a:p>
            <a:pPr lvl="1"/>
            <a:endParaRPr lang="en-US" sz="1300" dirty="0"/>
          </a:p>
          <a:p>
            <a:r>
              <a:rPr lang="en-US" sz="1300" dirty="0"/>
              <a:t>Misleading Prompt (Dataset Expectation Bias)</a:t>
            </a:r>
          </a:p>
          <a:p>
            <a:pPr lvl="1"/>
            <a:r>
              <a:rPr lang="en-US" sz="1300" dirty="0"/>
              <a:t>You are analyzing this image as part of a visual survey.  </a:t>
            </a:r>
          </a:p>
          <a:p>
            <a:pPr lvl="1"/>
            <a:r>
              <a:rPr lang="en-US" sz="1300" dirty="0"/>
              <a:t>In similar images from this dataset, the object "&lt;object&gt;" often appears,  </a:t>
            </a:r>
          </a:p>
          <a:p>
            <a:pPr lvl="1"/>
            <a:r>
              <a:rPr lang="en-US" sz="1300" dirty="0"/>
              <a:t>usually somewhere in the scene even if it's partially hidden or small.</a:t>
            </a:r>
          </a:p>
          <a:p>
            <a:pPr lvl="1"/>
            <a:r>
              <a:rPr lang="en-US" sz="1300" dirty="0"/>
              <a:t>Given this common pattern, check this image and answer strictly "yes" or "no":  </a:t>
            </a:r>
          </a:p>
          <a:p>
            <a:pPr lvl="1"/>
            <a:r>
              <a:rPr lang="en-US" sz="1300" dirty="0"/>
              <a:t>Is the object "&lt;object&gt;" present in this image?</a:t>
            </a:r>
          </a:p>
          <a:p>
            <a:pPr lvl="1"/>
            <a:endParaRPr lang="en-US" sz="1300" dirty="0"/>
          </a:p>
          <a:p>
            <a:r>
              <a:rPr lang="en-US" sz="1300" dirty="0"/>
              <a:t>Mitigation Prompt (Visible Evidence Base)</a:t>
            </a:r>
          </a:p>
          <a:p>
            <a:pPr lvl="1"/>
            <a:r>
              <a:rPr lang="en-US" sz="1300" dirty="0"/>
              <a:t>You must only answer "yes" if the object is clearly and unambiguously visible in the image.</a:t>
            </a:r>
          </a:p>
          <a:p>
            <a:pPr lvl="1"/>
            <a:r>
              <a:rPr lang="en-US" sz="1300" dirty="0"/>
              <a:t>If the object cannot be visually confirmed, partially seen, or is uncertain, answer "no".</a:t>
            </a:r>
          </a:p>
          <a:p>
            <a:pPr lvl="1"/>
            <a:r>
              <a:rPr lang="en-US" sz="1300" dirty="0"/>
              <a:t>Object to check: "&lt;object&gt;"</a:t>
            </a:r>
          </a:p>
          <a:p>
            <a:pPr lvl="1"/>
            <a:r>
              <a:rPr lang="en-US" sz="1300" dirty="0"/>
              <a:t>Based strictly on visible evidence only, does the image contain this object?</a:t>
            </a:r>
          </a:p>
          <a:p>
            <a:pPr lvl="1"/>
            <a:r>
              <a:rPr lang="en-US" sz="1300" dirty="0"/>
              <a:t>Answer only "yes" or "no".</a:t>
            </a:r>
          </a:p>
          <a:p>
            <a:r>
              <a:rPr lang="en-US" sz="1300" b="1" dirty="0"/>
              <a:t>POPE</a:t>
            </a:r>
            <a:r>
              <a:rPr lang="en-US" sz="1300" dirty="0"/>
              <a:t>: </a:t>
            </a:r>
            <a:r>
              <a:rPr lang="en-US" sz="1300" dirty="0">
                <a:hlinkClick r:id="rId2"/>
              </a:rPr>
              <a:t>https://arxiv.org/abs/2305.10355</a:t>
            </a:r>
            <a:r>
              <a:rPr lang="en-US" sz="13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099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CF8D3-1BED-5C40-BF2A-1CA08F68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Result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E357A4-8A7E-CAC2-22F0-A079039C2A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397" y="2418408"/>
            <a:ext cx="4959603" cy="35225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Misleading prompts increased hallucination.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Mitigation prompts decreased hallucination.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GPT-5.1 &gt; GPT-4o in robustness.</a:t>
            </a:r>
          </a:p>
        </p:txBody>
      </p:sp>
      <p:pic>
        <p:nvPicPr>
          <p:cNvPr id="6" name="Picture 5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A4A8AF85-2512-A58F-C596-7502E012D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442" y="1661815"/>
            <a:ext cx="5201023" cy="3120613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48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CE05F-065E-1CC7-C515-5A407C79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34185-8FEB-0827-D3CF-E97A5C2AE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Case Studies — Baseline OK → Misleading hallucinated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803EC2D5-482B-32D5-BB85-2CC886FCB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923" y="2405894"/>
            <a:ext cx="5315189" cy="35350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b="0" dirty="0"/>
              <a:t>Content: A lady is taking a photo of herself in a mirror while lying on a bed with a small dog beside her.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b="0" dirty="0"/>
              <a:t>Query: Is the object “sofa" present in this image?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b="0" dirty="0"/>
              <a:t>Baseline prediction: No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b="0" dirty="0"/>
              <a:t>Misleading prompt prediction: </a:t>
            </a:r>
            <a:r>
              <a:rPr lang="en-US"/>
              <a:t>Yes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b="0" dirty="0"/>
              <a:t>Ground truth: No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Content Placeholder 8" descr="A person taking a picture of herself on a bed&#10;&#10;AI-generated content may be incorrect.">
            <a:extLst>
              <a:ext uri="{FF2B5EF4-FFF2-40B4-BE49-F238E27FC236}">
                <a16:creationId xmlns:a16="http://schemas.microsoft.com/office/drawing/2014/main" id="{A754D61E-F0D0-32E9-F2D8-5684BA97EC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67" y="1880998"/>
            <a:ext cx="4170530" cy="31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2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A8AEF-AE7D-1772-C94E-A77B1B77D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2DEA2-C90A-0420-09F9-6947EFDF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Case Studies — Baseline hallucinated → Mitigation corrected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C69D54CD-DB2C-00C3-440F-8D7C34548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923" y="2405894"/>
            <a:ext cx="5315189" cy="35350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b="0" dirty="0"/>
              <a:t>Content: A cat is resting on the ground behind a bicycle frame labeled “BIKE AND DESTROY.”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b="0" dirty="0"/>
              <a:t>Query: Is the object “bowl" present in this image?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b="0" dirty="0"/>
              <a:t>Baseline prediction: Yes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b="0" dirty="0"/>
              <a:t>Mitigation prompt prediction: </a:t>
            </a:r>
            <a:r>
              <a:rPr lang="en-US" dirty="0"/>
              <a:t>No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b="0" dirty="0"/>
              <a:t>Ground truth: No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Content Placeholder 10" descr="A cat lying on the ground&#10;&#10;AI-generated content may be incorrect.">
            <a:extLst>
              <a:ext uri="{FF2B5EF4-FFF2-40B4-BE49-F238E27FC236}">
                <a16:creationId xmlns:a16="http://schemas.microsoft.com/office/drawing/2014/main" id="{BEEF20F0-21DA-8F2D-CC7C-9EB88C2BA29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67" y="1880998"/>
            <a:ext cx="4170530" cy="31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7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061A8E0-C0EC-E5AD-F4C7-D0BF233F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  <a:endParaRPr lang="en-US" dirty="0"/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651FC445-FFA4-215A-6FEC-E0FF5BA8FE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600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0676-7016-3791-B069-178A3A58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B930EA-4769-DDB5-9EC6-E71F40658C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5991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E8346-1DDB-1CA0-7B0E-1FA38F4AF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Demo Link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FA49C8-37ED-DF5B-D29F-182E9629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GitHub: </a:t>
            </a:r>
            <a:r>
              <a:rPr lang="en-US" sz="2000" dirty="0">
                <a:hlinkClick r:id="rId2"/>
              </a:rPr>
              <a:t>https://github.com/xxiao053/MRP--Mini-Research-Problem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/>
              <a:t>YouTube: </a:t>
            </a:r>
            <a:r>
              <a:rPr lang="en-US" sz="2000" dirty="0">
                <a:hlinkClick r:id="rId3"/>
              </a:rPr>
              <a:t>https://youtu.be/QBVE6niUrPw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9837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5B3BA-27A4-4B93-B8AA-E085E487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8D671-442B-6990-47F5-1B4D3F548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This project builds a scalable and automated framework for measuring object hallucination in multimodal LLMs using POPE-style probing, showing how prompts can induce or mitigate hallucination while enabling future large-scale research.</a:t>
            </a:r>
          </a:p>
        </p:txBody>
      </p:sp>
    </p:spTree>
    <p:extLst>
      <p:ext uri="{BB962C8B-B14F-4D97-AF65-F5344CB8AC3E}">
        <p14:creationId xmlns:p14="http://schemas.microsoft.com/office/powerpoint/2010/main" val="2450601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1901</Words>
  <Application>Microsoft Office PowerPoint</Application>
  <PresentationFormat>Widescreen</PresentationFormat>
  <Paragraphs>234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Office Theme</vt:lpstr>
      <vt:lpstr>A Scalable Workflow for Evaluating Object Hallucination in Multimodal LLMs</vt:lpstr>
      <vt:lpstr>TL;DR</vt:lpstr>
      <vt:lpstr>Literature Review - 1</vt:lpstr>
      <vt:lpstr>Literature Review - 2</vt:lpstr>
      <vt:lpstr>Dataset + Ground Truth</vt:lpstr>
      <vt:lpstr>Workflow Overview</vt:lpstr>
      <vt:lpstr>Prompt Design (Approach: POPE)</vt:lpstr>
      <vt:lpstr>Result</vt:lpstr>
      <vt:lpstr>Case Studies — Baseline OK → Misleading hallucinated</vt:lpstr>
      <vt:lpstr>Case Studies — Baseline hallucinated → Mitigation corrected</vt:lpstr>
      <vt:lpstr>Limitations</vt:lpstr>
      <vt:lpstr>Future Work</vt:lpstr>
      <vt:lpstr>Demo Link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Xiao, Xiao</dc:creator>
  <cp:lastModifiedBy>Xiao, Xiao</cp:lastModifiedBy>
  <cp:revision>14</cp:revision>
  <cp:lastPrinted>2025-12-04T07:05:01Z</cp:lastPrinted>
  <dcterms:created xsi:type="dcterms:W3CDTF">2025-12-04T03:45:40Z</dcterms:created>
  <dcterms:modified xsi:type="dcterms:W3CDTF">2025-12-04T07:11:37Z</dcterms:modified>
</cp:coreProperties>
</file>